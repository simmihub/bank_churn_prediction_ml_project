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69" r:id="rId13"/>
  </p:sld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1-Office-The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1-Layout1-title-Title-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84EBD41-4860-46C9-A332-1E408370FBF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1-Layout2-vertTx-Title-and-Vertical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2B044E5-E5E8-4B92-B798-B9A24D0DFF8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1-Layout3-vertTitleAndTx-Vertical-Title-and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99E6C153-5EF0-4C61-B0C8-7FE36FF9089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1-Layout4-obj-Title-and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D2BFC94-0E34-4498-879C-05839A5D798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1-Layout5-blank-Section-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771869C0-F6C0-4C77-B79F-C489AEA3DF7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1-Layout6-twoObj-Two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0A057B39-B343-454E-A7E9-4E3F42BEFE9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1-Layout7-blank-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045E526E-00BE-4815-A0EC-2273A7AAECD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1-Layout8-titleOnly-Title-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05D98241-E342-45FD-BB63-55CF3A934A6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1-Layout9-blank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3C2AF83E-1276-4C45-A94C-553690ADFAC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Master title style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CD5A82F-3B51-4BE7-A0F4-2A50AAAFC43B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Master title style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45720" tIns="91440" rIns="45720" bIns="91440" anchor="t" vert="eaVert">
            <a:normAutofit/>
          </a:bodyPr>
          <a:lstStyle>
            <a:lvl1pPr marL="343080" indent="-343080" algn="l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marL="743040" lvl="1" indent="-285840" algn="l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marL="1143000" lvl="2" indent="-228600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marL="1600200" lvl="3" indent="-22860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marL="2057400" lvl="4" indent="-22860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algn="l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35B520B-040E-4F61-BAFF-9ADAEBD83330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45720" tIns="91440" rIns="45720" bIns="91440" anchor="ctr" anchorCtr="1" vert="eaVert">
            <a:noAutofit/>
          </a:bodyPr>
          <a:lstStyle>
            <a:lvl1pPr indent="0" algn="ctr">
              <a:lnSpc>
                <a:spcPct val="100000"/>
              </a:lnSpc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Master title style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45720" tIns="91440" rIns="45720" bIns="91440" anchor="t" vert="eaVert">
            <a:normAutofit/>
          </a:bodyPr>
          <a:lstStyle>
            <a:lvl1pPr marL="343080" indent="-343080" algn="l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marL="743040" lvl="1" indent="-285840" algn="l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marL="1143000" lvl="2" indent="-228600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marL="1600200" lvl="3" indent="-22860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marL="2057400" lvl="4" indent="-22860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algn="l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B7510E3-9EC4-468B-8C66-6DD17D96C0F3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Master title style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marL="343080" indent="-343080" algn="l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marL="743040" lvl="1" indent="-285840" algn="l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marL="1143000" lvl="2" indent="-228600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marL="1600200" lvl="3" indent="-22860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marL="2057400" lvl="4" indent="-22860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algn="l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C31108C-778A-4103-8368-865823058C56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>
              <a:lnSpc>
                <a:spcPct val="100000"/>
              </a:lnSpc>
              <a:buNone/>
              <a:defRPr lang="en-US" sz="4000" b="1" u="none" strike="noStrike" cap="all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rgbClr val="000000"/>
                </a:solidFill>
                <a:effectLst/>
                <a:uFillTx/>
                <a:latin typeface="Calibri"/>
              </a:rPr>
              <a:t>Click to edit Master title style</a:t>
            </a:r>
            <a:endParaRPr lang="en-IN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marL="22860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-228600" algn="l"/>
              </a:tabLst>
              <a:defRPr lang="en-US" sz="20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marL="22860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-228600" algn="l"/>
              </a:tabLst>
            </a:pPr>
            <a:r>
              <a:rPr lang="en-US" sz="20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A147CCC-96FC-46F2-8B37-95E631FB54C2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Master title style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lstStyle>
            <a:lvl1pPr marL="343080" indent="-343080" algn="l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marL="743040" lvl="1" indent="-285840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marL="1143000" lvl="2" indent="-22860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marL="1600200" lvl="3" indent="-228600" algn="l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marL="2057400" lvl="4" indent="-228600" algn="l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algn="l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algn="l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lstStyle>
            <a:lvl1pPr marL="343080" indent="-343080" algn="l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marL="743040" lvl="1" indent="-285840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marL="1143000" lvl="2" indent="-22860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marL="1600200" lvl="3" indent="-228600" algn="l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marL="2057400" lvl="4" indent="-228600" algn="l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algn="l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algn="l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69B9620-2796-4F03-8892-86C9C5D4697E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Master title style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85000" lnSpcReduction="9999"/>
          </a:bodyPr>
          <a:lstStyle>
            <a:lvl1pPr marL="228600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-228600" algn="l"/>
              </a:tabLst>
              <a:def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marL="228600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-228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lstStyle>
            <a:lvl1pPr marL="343080" indent="-343080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-343080" algn="l"/>
              </a:tabLst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marL="743040" lvl="1" indent="-28584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-74304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marL="1143000" lvl="2" indent="-228600" algn="l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-114300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marL="1600200" lvl="3" indent="-228600" algn="l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-1600200" algn="l"/>
              </a:tabLst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marL="2057400" lvl="4" indent="-228600" algn="l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-2057400" algn="l"/>
              </a:tabLst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-34308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-74304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algn="l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-11430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algn="l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-16002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level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algn="l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-2057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level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85000" lnSpcReduction="9999"/>
          </a:bodyPr>
          <a:lstStyle>
            <a:lvl1pPr marL="228600" indent="0" algn="l">
              <a:lnSpc>
                <a:spcPct val="100000"/>
              </a:lnSpc>
              <a:spcBef>
                <a:spcPts val="479"/>
              </a:spcBef>
              <a:tabLst>
                <a:tab pos="-228600" algn="l"/>
              </a:tabLst>
              <a:def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marL="228600" indent="0" algn="l">
              <a:lnSpc>
                <a:spcPct val="100000"/>
              </a:lnSpc>
              <a:spcBef>
                <a:spcPts val="479"/>
              </a:spcBef>
              <a:tabLst>
                <a:tab pos="-228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lstStyle>
            <a:lvl1pPr marL="343080" indent="-343080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-343080" algn="l"/>
              </a:tabLst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marL="743040" lvl="1" indent="-28584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-74304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marL="1143000" lvl="2" indent="-228600" algn="l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-114300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marL="1600200" lvl="3" indent="-228600" algn="l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-1600200" algn="l"/>
              </a:tabLst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marL="2057400" lvl="4" indent="-228600" algn="l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-2057400" algn="l"/>
              </a:tabLst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-34308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-74304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algn="l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-11430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algn="l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-16002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level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algn="l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-2057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level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AF62850-8654-40FC-90BE-FD5278BDF8F4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Master title style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5869B67-2330-48A0-B7CA-67D65FE78524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886B732-BDF3-4EDC-A521-D8F0642C3745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90000"/>
              </a:lnSpc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marL="432000" indent="-324000" algn="l">
              <a:lnSpc>
                <a:spcPct val="9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marL="1728000" lvl="3" indent="-216000" algn="l">
              <a:lnSpc>
                <a:spcPct val="90000"/>
              </a:lnSpc>
              <a:spcBef>
                <a:spcPts val="56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marL="2160000" lvl="4" indent="-216000" algn="l">
              <a:lnSpc>
                <a:spcPct val="90000"/>
              </a:lnSpc>
              <a:spcBef>
                <a:spcPts val="286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marL="2592000" lvl="5" indent="-216000" algn="l">
              <a:lnSpc>
                <a:spcPct val="90000"/>
              </a:lnSpc>
              <a:spcBef>
                <a:spcPts val="286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marL="3024000" lvl="6" indent="-216000" algn="l">
              <a:lnSpc>
                <a:spcPct val="90000"/>
              </a:lnSpc>
              <a:spcBef>
                <a:spcPts val="286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>
              <a:lnSpc>
                <a:spcPct val="100000"/>
              </a:lnSpc>
              <a:buNone/>
              <a:defRPr lang="en-US" sz="2000" b="1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Master title style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marL="343080" indent="-343080" algn="l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marL="743040" lvl="1" indent="-285840" algn="l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marL="1143000" lvl="2" indent="-228600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marL="1600200" lvl="3" indent="-22860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marL="2057400" lvl="4" indent="-22860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algn="l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marL="228600" indent="0" algn="l">
              <a:lnSpc>
                <a:spcPct val="100000"/>
              </a:lnSpc>
              <a:spcBef>
                <a:spcPts val="281"/>
              </a:spcBef>
              <a:tabLst>
                <a:tab pos="-22860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marL="228600" indent="0" algn="l">
              <a:lnSpc>
                <a:spcPct val="100000"/>
              </a:lnSpc>
              <a:spcBef>
                <a:spcPts val="281"/>
              </a:spcBef>
              <a:tabLst>
                <a:tab pos="-22860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6F30E1D-5394-4C9C-ACC9-B177CF2ECF37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>
              <a:lnSpc>
                <a:spcPct val="100000"/>
              </a:lnSpc>
              <a:buNone/>
              <a:defRPr lang="en-US" sz="2000" b="1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Master title style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32500" lnSpcReduction="19999"/>
          </a:bodyPr>
          <a:lstStyle>
            <a:lvl1pPr marL="228600" indent="-228600" algn="l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-2286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marL="45720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-4572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marL="91440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-9144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marL="1371600" lvl="3" indent="-228600" algn="l">
              <a:lnSpc>
                <a:spcPct val="90000"/>
              </a:lnSpc>
              <a:spcBef>
                <a:spcPts val="56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-13716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marL="1828800" lvl="4" indent="-228600" algn="l">
              <a:lnSpc>
                <a:spcPct val="90000"/>
              </a:lnSpc>
              <a:spcBef>
                <a:spcPts val="286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-18288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marL="2286000" lvl="5" indent="-228600" algn="l">
              <a:lnSpc>
                <a:spcPct val="90000"/>
              </a:lnSpc>
              <a:spcBef>
                <a:spcPts val="286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-22860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marL="2743200" lvl="6" indent="-228600" algn="l">
              <a:lnSpc>
                <a:spcPct val="90000"/>
              </a:lnSpc>
              <a:spcBef>
                <a:spcPts val="286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-27432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228600" indent="-228600" algn="l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-2286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-4572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-914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3" indent="-228600" algn="l">
              <a:lnSpc>
                <a:spcPct val="90000"/>
              </a:lnSpc>
              <a:spcBef>
                <a:spcPts val="56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-13716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4" indent="-228600" algn="l">
              <a:lnSpc>
                <a:spcPct val="90000"/>
              </a:lnSpc>
              <a:spcBef>
                <a:spcPts val="286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-18288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5" indent="-228600" algn="l">
              <a:lnSpc>
                <a:spcPct val="90000"/>
              </a:lnSpc>
              <a:spcBef>
                <a:spcPts val="286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-22860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6" indent="-228600" algn="l">
              <a:lnSpc>
                <a:spcPct val="90000"/>
              </a:lnSpc>
              <a:spcBef>
                <a:spcPts val="286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-27432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marL="228600" indent="0" algn="l">
              <a:lnSpc>
                <a:spcPct val="100000"/>
              </a:lnSpc>
              <a:spcBef>
                <a:spcPts val="281"/>
              </a:spcBef>
              <a:tabLst>
                <a:tab pos="-22860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marL="228600" indent="0" algn="l">
              <a:lnSpc>
                <a:spcPct val="100000"/>
              </a:lnSpc>
              <a:spcBef>
                <a:spcPts val="281"/>
              </a:spcBef>
              <a:tabLst>
                <a:tab pos="-22860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63569B2-B78A-4F88-B186-DF3395B505D6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0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0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0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10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E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8137800" cy="68576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9360">
            <a:solidFill>
              <a:srgbClr val="FFFFFF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685800" y="1105560"/>
            <a:ext cx="6583320" cy="1126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>
              <a:lnSpc>
                <a:spcPct val="100000"/>
              </a:lnSpc>
            </a:pPr>
            <a:r>
              <a:rPr lang="en-US" sz="3400" b="1" u="none" strike="noStrike">
                <a:solidFill>
                  <a:srgbClr val="372B43"/>
                </a:solidFill>
                <a:effectLst/>
                <a:uFillTx/>
                <a:latin typeface="Aptos"/>
              </a:rPr>
              <a:t>BANK CHURN PREDICTION</a:t>
            </a:r>
            <a:endParaRPr lang="en-IN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685800" y="2141640"/>
            <a:ext cx="6583320" cy="7455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>
              <a:lnSpc>
                <a:spcPct val="100000"/>
              </a:lnSpc>
            </a:pPr>
            <a:r>
              <a:rPr lang="en-US" sz="2500" b="1" u="none" strike="noStrike">
                <a:solidFill>
                  <a:srgbClr val="704C91"/>
                </a:solidFill>
                <a:effectLst/>
                <a:uFillTx/>
                <a:latin typeface="Aptos"/>
              </a:rPr>
              <a:t>&amp; CUSTOMER RETENTION</a:t>
            </a:r>
            <a:br>
              <a:rPr sz="1800"/>
            </a:b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RECOMMENDATION SYSTEM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4" name="Connector 4"/>
          <p:cNvCxnSpPr/>
          <p:nvPr/>
        </p:nvCxnSpPr>
        <p:spPr>
          <a:xfrm>
            <a:off x="713160" y="3337560"/>
            <a:ext cx="2213640" cy="720"/>
          </a:xfrm>
          <a:prstGeom prst="straightConnector1">
            <a:avLst/>
          </a:prstGeom>
          <a:ln w="31680">
            <a:solidFill>
              <a:srgbClr val="704C91"/>
            </a:solidFill>
            <a:round/>
          </a:ln>
        </p:spPr>
      </p:cxnSp>
      <p:sp>
        <p:nvSpPr>
          <p:cNvPr id="65" name="TextBox 5"/>
          <p:cNvSpPr/>
          <p:nvPr/>
        </p:nvSpPr>
        <p:spPr>
          <a:xfrm>
            <a:off x="713160" y="3501000"/>
            <a:ext cx="4571640" cy="3495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>
              <a:lnSpc>
                <a:spcPct val="100000"/>
              </a:lnSpc>
            </a:pPr>
            <a:r>
              <a:rPr lang="en-US" sz="1700" b="0" u="none" strike="noStrike">
                <a:solidFill>
                  <a:srgbClr val="372B43"/>
                </a:solidFill>
                <a:effectLst/>
                <a:uFillTx/>
                <a:latin typeface="Aptos"/>
              </a:rPr>
              <a:t>Machine Learning Project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6"/>
          <p:cNvSpPr/>
          <p:nvPr/>
        </p:nvSpPr>
        <p:spPr>
          <a:xfrm>
            <a:off x="648360" y="5755320"/>
            <a:ext cx="4571640" cy="3646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372B43"/>
                </a:solidFill>
                <a:effectLst/>
                <a:uFillTx/>
                <a:latin typeface="Calibri"/>
              </a:rPr>
              <a:t>Presented by :  Simran (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B.Tech CSE (AIML))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7" name="Connector 7"/>
          <p:cNvCxnSpPr/>
          <p:nvPr/>
        </p:nvCxnSpPr>
        <p:spPr>
          <a:xfrm>
            <a:off x="9009000" y="4914720"/>
            <a:ext cx="720" cy="789480"/>
          </a:xfrm>
          <a:prstGeom prst="straightConnector1">
            <a:avLst/>
          </a:prstGeom>
          <a:ln w="9360">
            <a:solidFill>
              <a:srgbClr val="7E9A7E"/>
            </a:solidFill>
            <a:round/>
          </a:ln>
        </p:spPr>
      </p:cxnSp>
      <p:sp>
        <p:nvSpPr>
          <p:cNvPr id="68" name="Oval 8"/>
          <p:cNvSpPr/>
          <p:nvPr/>
        </p:nvSpPr>
        <p:spPr>
          <a:xfrm>
            <a:off x="8641080" y="4389120"/>
            <a:ext cx="315000" cy="525600"/>
          </a:xfrm>
          <a:custGeom>
            <a:avLst/>
            <a:gdLst>
              <a:gd name="textAreaLeft" fmla="*/ 46080 w 315000"/>
              <a:gd name="textAreaRight" fmla="*/ 268920 w 315000"/>
              <a:gd name="textAreaTop" fmla="*/ 76680 h 525600"/>
              <a:gd name="textAreaBottom" fmla="*/ 448920 h 525600"/>
            </a:gdLst>
            <a:ahLst/>
            <a:cxnLst/>
            <a:rect l="textAreaLeft" t="textAreaTop" r="textAreaRight" b="textAreaBottom"/>
            <a:pathLst>
              <a:path w="21600" h="36025">
                <a:moveTo>
                  <a:pt x="0" y="18012"/>
                </a:moveTo>
                <a:lnTo>
                  <a:pt x="0" y="18012"/>
                </a:lnTo>
                <a:arcTo wR="0" hR="0" stAng="0" swAng="0"/>
                <a:lnTo>
                  <a:pt x="0" y="18012"/>
                </a:lnTo>
                <a:arcTo wR="10800" hR="18012" stAng="-10800000" swAng="21550000"/>
                <a:close/>
              </a:path>
            </a:pathLst>
          </a:custGeom>
          <a:solidFill>
            <a:srgbClr val="704C91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Oval 9"/>
          <p:cNvSpPr/>
          <p:nvPr/>
        </p:nvSpPr>
        <p:spPr>
          <a:xfrm>
            <a:off x="8883000" y="4336560"/>
            <a:ext cx="315000" cy="599040"/>
          </a:xfrm>
          <a:custGeom>
            <a:avLst/>
            <a:gdLst>
              <a:gd name="textAreaLeft" fmla="*/ 46080 w 315000"/>
              <a:gd name="textAreaRight" fmla="*/ 268920 w 315000"/>
              <a:gd name="textAreaTop" fmla="*/ 87480 h 599040"/>
              <a:gd name="textAreaBottom" fmla="*/ 511560 h 599040"/>
            </a:gdLst>
            <a:ahLst/>
            <a:cxnLst/>
            <a:rect l="textAreaLeft" t="textAreaTop" r="textAreaRight" b="textAreaBottom"/>
            <a:pathLst>
              <a:path w="21600" h="41055">
                <a:moveTo>
                  <a:pt x="0" y="20527"/>
                </a:moveTo>
                <a:lnTo>
                  <a:pt x="0" y="20527"/>
                </a:lnTo>
                <a:arcTo wR="0" hR="0" stAng="0" swAng="0"/>
                <a:lnTo>
                  <a:pt x="0" y="20527"/>
                </a:lnTo>
                <a:arcTo wR="10800" hR="20527" stAng="-10800000" swAng="21550000"/>
                <a:close/>
              </a:path>
            </a:pathLst>
          </a:custGeom>
          <a:solidFill>
            <a:srgbClr val="704C91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Oval 10"/>
          <p:cNvSpPr/>
          <p:nvPr/>
        </p:nvSpPr>
        <p:spPr>
          <a:xfrm>
            <a:off x="9124920" y="4389120"/>
            <a:ext cx="315000" cy="525600"/>
          </a:xfrm>
          <a:custGeom>
            <a:avLst/>
            <a:gdLst>
              <a:gd name="textAreaLeft" fmla="*/ 46080 w 315000"/>
              <a:gd name="textAreaRight" fmla="*/ 268920 w 315000"/>
              <a:gd name="textAreaTop" fmla="*/ 76680 h 525600"/>
              <a:gd name="textAreaBottom" fmla="*/ 448920 h 525600"/>
            </a:gdLst>
            <a:ahLst/>
            <a:cxnLst/>
            <a:rect l="textAreaLeft" t="textAreaTop" r="textAreaRight" b="textAreaBottom"/>
            <a:pathLst>
              <a:path w="21600" h="36025">
                <a:moveTo>
                  <a:pt x="0" y="18012"/>
                </a:moveTo>
                <a:lnTo>
                  <a:pt x="0" y="18012"/>
                </a:lnTo>
                <a:arcTo wR="0" hR="0" stAng="0" swAng="0"/>
                <a:lnTo>
                  <a:pt x="0" y="18012"/>
                </a:lnTo>
                <a:arcTo wR="10800" hR="18012" stAng="-10800000" swAng="21550000"/>
                <a:close/>
              </a:path>
            </a:pathLst>
          </a:custGeom>
          <a:solidFill>
            <a:srgbClr val="704C91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71" name="Connector 11"/>
          <p:cNvCxnSpPr/>
          <p:nvPr/>
        </p:nvCxnSpPr>
        <p:spPr>
          <a:xfrm>
            <a:off x="9628560" y="4754880"/>
            <a:ext cx="720" cy="549360"/>
          </a:xfrm>
          <a:prstGeom prst="straightConnector1">
            <a:avLst/>
          </a:prstGeom>
          <a:ln w="9360">
            <a:solidFill>
              <a:srgbClr val="7E9A7E"/>
            </a:solidFill>
            <a:round/>
          </a:ln>
        </p:spPr>
      </p:cxnSp>
      <p:sp>
        <p:nvSpPr>
          <p:cNvPr id="72" name="Oval 12"/>
          <p:cNvSpPr/>
          <p:nvPr/>
        </p:nvSpPr>
        <p:spPr>
          <a:xfrm>
            <a:off x="9372600" y="4389120"/>
            <a:ext cx="219240" cy="365400"/>
          </a:xfrm>
          <a:custGeom>
            <a:avLst/>
            <a:gdLst>
              <a:gd name="textAreaLeft" fmla="*/ 32040 w 219240"/>
              <a:gd name="textAreaRight" fmla="*/ 187200 w 219240"/>
              <a:gd name="textAreaTop" fmla="*/ 53280 h 365400"/>
              <a:gd name="textAreaBottom" fmla="*/ 312120 h 365400"/>
            </a:gdLst>
            <a:ahLst/>
            <a:cxnLst/>
            <a:rect l="textAreaLeft" t="textAreaTop" r="textAreaRight" b="textAreaBottom"/>
            <a:pathLst>
              <a:path w="21600" h="35976">
                <a:moveTo>
                  <a:pt x="0" y="17988"/>
                </a:moveTo>
                <a:lnTo>
                  <a:pt x="0" y="17988"/>
                </a:lnTo>
                <a:arcTo wR="0" hR="0" stAng="0" swAng="0"/>
                <a:lnTo>
                  <a:pt x="0" y="17988"/>
                </a:lnTo>
                <a:arcTo wR="10800" hR="17988" stAng="-10800000" swAng="21550000"/>
                <a:close/>
              </a:path>
            </a:pathLst>
          </a:custGeom>
          <a:solidFill>
            <a:srgbClr val="D3A4BE"/>
          </a:solidFill>
          <a:ln w="9360">
            <a:solidFill>
              <a:srgbClr val="D3A4BE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Oval 13"/>
          <p:cNvSpPr/>
          <p:nvPr/>
        </p:nvSpPr>
        <p:spPr>
          <a:xfrm>
            <a:off x="9540720" y="4352400"/>
            <a:ext cx="219240" cy="416520"/>
          </a:xfrm>
          <a:custGeom>
            <a:avLst/>
            <a:gdLst>
              <a:gd name="textAreaLeft" fmla="*/ 32040 w 219240"/>
              <a:gd name="textAreaRight" fmla="*/ 187200 w 219240"/>
              <a:gd name="textAreaTop" fmla="*/ 60840 h 416520"/>
              <a:gd name="textAreaBottom" fmla="*/ 355680 h 416520"/>
            </a:gdLst>
            <a:ahLst/>
            <a:cxnLst/>
            <a:rect l="textAreaLeft" t="textAreaTop" r="textAreaRight" b="textAreaBottom"/>
            <a:pathLst>
              <a:path w="21600" h="41005">
                <a:moveTo>
                  <a:pt x="0" y="20502"/>
                </a:moveTo>
                <a:lnTo>
                  <a:pt x="0" y="20502"/>
                </a:lnTo>
                <a:arcTo wR="0" hR="0" stAng="0" swAng="0"/>
                <a:lnTo>
                  <a:pt x="0" y="20502"/>
                </a:lnTo>
                <a:arcTo wR="10800" hR="20502" stAng="-10800000" swAng="21550000"/>
                <a:close/>
              </a:path>
            </a:pathLst>
          </a:custGeom>
          <a:solidFill>
            <a:srgbClr val="D3A4BE"/>
          </a:solidFill>
          <a:ln w="9360">
            <a:solidFill>
              <a:srgbClr val="D3A4BE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Oval 14"/>
          <p:cNvSpPr/>
          <p:nvPr/>
        </p:nvSpPr>
        <p:spPr>
          <a:xfrm>
            <a:off x="9709200" y="4389120"/>
            <a:ext cx="219240" cy="365400"/>
          </a:xfrm>
          <a:custGeom>
            <a:avLst/>
            <a:gdLst>
              <a:gd name="textAreaLeft" fmla="*/ 32040 w 219240"/>
              <a:gd name="textAreaRight" fmla="*/ 187200 w 219240"/>
              <a:gd name="textAreaTop" fmla="*/ 53280 h 365400"/>
              <a:gd name="textAreaBottom" fmla="*/ 312120 h 365400"/>
            </a:gdLst>
            <a:ahLst/>
            <a:cxnLst/>
            <a:rect l="textAreaLeft" t="textAreaTop" r="textAreaRight" b="textAreaBottom"/>
            <a:pathLst>
              <a:path w="21600" h="35976">
                <a:moveTo>
                  <a:pt x="0" y="17988"/>
                </a:moveTo>
                <a:lnTo>
                  <a:pt x="0" y="17988"/>
                </a:lnTo>
                <a:arcTo wR="0" hR="0" stAng="0" swAng="0"/>
                <a:lnTo>
                  <a:pt x="0" y="17988"/>
                </a:lnTo>
                <a:arcTo wR="10800" hR="17988" stAng="-10800000" swAng="21550000"/>
                <a:close/>
              </a:path>
            </a:pathLst>
          </a:custGeom>
          <a:solidFill>
            <a:srgbClr val="D3A4BE"/>
          </a:solidFill>
          <a:ln w="9360">
            <a:solidFill>
              <a:srgbClr val="D3A4BE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5" name="Connector 15"/>
          <p:cNvCxnSpPr/>
          <p:nvPr/>
        </p:nvCxnSpPr>
        <p:spPr>
          <a:xfrm>
            <a:off x="10424160" y="4846320"/>
            <a:ext cx="720" cy="686520"/>
          </a:xfrm>
          <a:prstGeom prst="straightConnector1">
            <a:avLst/>
          </a:prstGeom>
          <a:ln w="9360">
            <a:solidFill>
              <a:srgbClr val="7E9A7E"/>
            </a:solidFill>
            <a:round/>
          </a:ln>
        </p:spPr>
      </p:cxnSp>
      <p:sp>
        <p:nvSpPr>
          <p:cNvPr id="76" name="Oval 16"/>
          <p:cNvSpPr/>
          <p:nvPr/>
        </p:nvSpPr>
        <p:spPr>
          <a:xfrm>
            <a:off x="10104120" y="4389120"/>
            <a:ext cx="273960" cy="456840"/>
          </a:xfrm>
          <a:custGeom>
            <a:avLst/>
            <a:gdLst>
              <a:gd name="textAreaLeft" fmla="*/ 39960 w 273960"/>
              <a:gd name="textAreaRight" fmla="*/ 234000 w 273960"/>
              <a:gd name="textAreaTop" fmla="*/ 66600 h 456840"/>
              <a:gd name="textAreaBottom" fmla="*/ 390240 h 456840"/>
            </a:gdLst>
            <a:ahLst/>
            <a:cxnLst/>
            <a:rect l="textAreaLeft" t="textAreaTop" r="textAreaRight" b="textAreaBottom"/>
            <a:pathLst>
              <a:path w="21600" h="36000">
                <a:moveTo>
                  <a:pt x="0" y="18000"/>
                </a:moveTo>
                <a:lnTo>
                  <a:pt x="0" y="18000"/>
                </a:lnTo>
                <a:arcTo wR="0" hR="0" stAng="0" swAng="0"/>
                <a:lnTo>
                  <a:pt x="0" y="18000"/>
                </a:lnTo>
                <a:arcTo wR="10800" hR="18000" stAng="-10800000" swAng="21550000"/>
                <a:close/>
              </a:path>
            </a:pathLst>
          </a:custGeom>
          <a:solidFill>
            <a:srgbClr val="704C91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Oval 17"/>
          <p:cNvSpPr/>
          <p:nvPr/>
        </p:nvSpPr>
        <p:spPr>
          <a:xfrm>
            <a:off x="10314360" y="4343400"/>
            <a:ext cx="273960" cy="520920"/>
          </a:xfrm>
          <a:custGeom>
            <a:avLst/>
            <a:gdLst>
              <a:gd name="textAreaLeft" fmla="*/ 39960 w 273960"/>
              <a:gd name="textAreaRight" fmla="*/ 234000 w 273960"/>
              <a:gd name="textAreaTop" fmla="*/ 76320 h 520920"/>
              <a:gd name="textAreaBottom" fmla="*/ 444600 h 520920"/>
            </a:gdLst>
            <a:ahLst/>
            <a:cxnLst/>
            <a:rect l="textAreaLeft" t="textAreaTop" r="textAreaRight" b="textAreaBottom"/>
            <a:pathLst>
              <a:path w="21600" h="41046">
                <a:moveTo>
                  <a:pt x="0" y="20523"/>
                </a:moveTo>
                <a:lnTo>
                  <a:pt x="0" y="20523"/>
                </a:lnTo>
                <a:arcTo wR="0" hR="0" stAng="0" swAng="0"/>
                <a:lnTo>
                  <a:pt x="0" y="20523"/>
                </a:lnTo>
                <a:arcTo wR="10800" hR="20523" stAng="-10800000" swAng="21550000"/>
                <a:close/>
              </a:path>
            </a:pathLst>
          </a:custGeom>
          <a:solidFill>
            <a:srgbClr val="704C91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Oval 18"/>
          <p:cNvSpPr/>
          <p:nvPr/>
        </p:nvSpPr>
        <p:spPr>
          <a:xfrm>
            <a:off x="10524600" y="4389120"/>
            <a:ext cx="273960" cy="456840"/>
          </a:xfrm>
          <a:custGeom>
            <a:avLst/>
            <a:gdLst>
              <a:gd name="textAreaLeft" fmla="*/ 39960 w 273960"/>
              <a:gd name="textAreaRight" fmla="*/ 234000 w 273960"/>
              <a:gd name="textAreaTop" fmla="*/ 66600 h 456840"/>
              <a:gd name="textAreaBottom" fmla="*/ 390240 h 456840"/>
            </a:gdLst>
            <a:ahLst/>
            <a:cxnLst/>
            <a:rect l="textAreaLeft" t="textAreaTop" r="textAreaRight" b="textAreaBottom"/>
            <a:pathLst>
              <a:path w="21600" h="36000">
                <a:moveTo>
                  <a:pt x="0" y="18000"/>
                </a:moveTo>
                <a:lnTo>
                  <a:pt x="0" y="18000"/>
                </a:lnTo>
                <a:arcTo wR="0" hR="0" stAng="0" swAng="0"/>
                <a:lnTo>
                  <a:pt x="0" y="18000"/>
                </a:lnTo>
                <a:arcTo wR="10800" hR="18000" stAng="-10800000" swAng="21550000"/>
                <a:close/>
              </a:path>
            </a:pathLst>
          </a:custGeom>
          <a:solidFill>
            <a:srgbClr val="704C91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79" name="Connector 19"/>
          <p:cNvCxnSpPr/>
          <p:nvPr/>
        </p:nvCxnSpPr>
        <p:spPr>
          <a:xfrm>
            <a:off x="11059560" y="4708800"/>
            <a:ext cx="720" cy="480960"/>
          </a:xfrm>
          <a:prstGeom prst="straightConnector1">
            <a:avLst/>
          </a:prstGeom>
          <a:ln w="9360">
            <a:solidFill>
              <a:srgbClr val="7E9A7E"/>
            </a:solidFill>
            <a:round/>
          </a:ln>
        </p:spPr>
      </p:cxnSp>
      <p:sp>
        <p:nvSpPr>
          <p:cNvPr id="80" name="Oval 20"/>
          <p:cNvSpPr/>
          <p:nvPr/>
        </p:nvSpPr>
        <p:spPr>
          <a:xfrm>
            <a:off x="10835640" y="4389120"/>
            <a:ext cx="191520" cy="319680"/>
          </a:xfrm>
          <a:custGeom>
            <a:avLst/>
            <a:gdLst>
              <a:gd name="textAreaLeft" fmla="*/ 28080 w 191520"/>
              <a:gd name="textAreaRight" fmla="*/ 163440 w 191520"/>
              <a:gd name="textAreaTop" fmla="*/ 46800 h 319680"/>
              <a:gd name="textAreaBottom" fmla="*/ 272880 h 319680"/>
            </a:gdLst>
            <a:ahLst/>
            <a:cxnLst/>
            <a:rect l="textAreaLeft" t="textAreaTop" r="textAreaRight" b="textAreaBottom"/>
            <a:pathLst>
              <a:path w="21600" h="36027">
                <a:moveTo>
                  <a:pt x="0" y="18014"/>
                </a:moveTo>
                <a:lnTo>
                  <a:pt x="0" y="18014"/>
                </a:lnTo>
                <a:arcTo wR="0" hR="0" stAng="0" swAng="0"/>
                <a:lnTo>
                  <a:pt x="0" y="18014"/>
                </a:lnTo>
                <a:arcTo wR="10800" hR="18014" stAng="-10800000" swAng="21550000"/>
                <a:close/>
              </a:path>
            </a:pathLst>
          </a:custGeom>
          <a:solidFill>
            <a:srgbClr val="D3A4BE"/>
          </a:solidFill>
          <a:ln w="9360">
            <a:solidFill>
              <a:srgbClr val="D3A4BE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Oval 21"/>
          <p:cNvSpPr/>
          <p:nvPr/>
        </p:nvSpPr>
        <p:spPr>
          <a:xfrm>
            <a:off x="10982880" y="4357080"/>
            <a:ext cx="191520" cy="364320"/>
          </a:xfrm>
          <a:custGeom>
            <a:avLst/>
            <a:gdLst>
              <a:gd name="textAreaLeft" fmla="*/ 28080 w 191520"/>
              <a:gd name="textAreaRight" fmla="*/ 163440 w 191520"/>
              <a:gd name="textAreaTop" fmla="*/ 53280 h 364320"/>
              <a:gd name="textAreaBottom" fmla="*/ 311040 h 364320"/>
            </a:gdLst>
            <a:ahLst/>
            <a:cxnLst/>
            <a:rect l="textAreaLeft" t="textAreaTop" r="textAreaRight" b="textAreaBottom"/>
            <a:pathLst>
              <a:path w="21600" h="41052">
                <a:moveTo>
                  <a:pt x="0" y="20526"/>
                </a:moveTo>
                <a:lnTo>
                  <a:pt x="0" y="20526"/>
                </a:lnTo>
                <a:arcTo wR="0" hR="0" stAng="0" swAng="0"/>
                <a:lnTo>
                  <a:pt x="0" y="20526"/>
                </a:lnTo>
                <a:arcTo wR="10800" hR="20526" stAng="-10800000" swAng="21550000"/>
                <a:close/>
              </a:path>
            </a:pathLst>
          </a:custGeom>
          <a:solidFill>
            <a:srgbClr val="D3A4BE"/>
          </a:solidFill>
          <a:ln w="9360">
            <a:solidFill>
              <a:srgbClr val="D3A4BE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Oval 22"/>
          <p:cNvSpPr/>
          <p:nvPr/>
        </p:nvSpPr>
        <p:spPr>
          <a:xfrm>
            <a:off x="11130120" y="4389120"/>
            <a:ext cx="191520" cy="319680"/>
          </a:xfrm>
          <a:custGeom>
            <a:avLst/>
            <a:gdLst>
              <a:gd name="textAreaLeft" fmla="*/ 28080 w 191520"/>
              <a:gd name="textAreaRight" fmla="*/ 163440 w 191520"/>
              <a:gd name="textAreaTop" fmla="*/ 46800 h 319680"/>
              <a:gd name="textAreaBottom" fmla="*/ 272880 h 319680"/>
            </a:gdLst>
            <a:ahLst/>
            <a:cxnLst/>
            <a:rect l="textAreaLeft" t="textAreaTop" r="textAreaRight" b="textAreaBottom"/>
            <a:pathLst>
              <a:path w="21600" h="36027">
                <a:moveTo>
                  <a:pt x="0" y="18014"/>
                </a:moveTo>
                <a:lnTo>
                  <a:pt x="0" y="18014"/>
                </a:lnTo>
                <a:arcTo wR="0" hR="0" stAng="0" swAng="0"/>
                <a:lnTo>
                  <a:pt x="0" y="18014"/>
                </a:lnTo>
                <a:arcTo wR="10800" hR="18014" stAng="-10800000" swAng="21550000"/>
                <a:close/>
              </a:path>
            </a:pathLst>
          </a:custGeom>
          <a:solidFill>
            <a:srgbClr val="D3A4BE"/>
          </a:solidFill>
          <a:ln w="9360">
            <a:solidFill>
              <a:srgbClr val="D3A4BE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1"/>
          <p:cNvSpPr/>
          <p:nvPr/>
        </p:nvSpPr>
        <p:spPr>
          <a:xfrm>
            <a:off x="0" y="0"/>
            <a:ext cx="12191400" cy="145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E1D2F2"/>
          </a:solidFill>
          <a:ln w="9360">
            <a:solidFill>
              <a:srgbClr val="E1D2F2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Rectangle 2"/>
          <p:cNvSpPr/>
          <p:nvPr/>
        </p:nvSpPr>
        <p:spPr>
          <a:xfrm>
            <a:off x="0" y="6711840"/>
            <a:ext cx="12191400" cy="145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1EAF8"/>
          </a:solidFill>
          <a:ln w="9360">
            <a:solidFill>
              <a:srgbClr val="F1EAF8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5" name="Connector 3"/>
          <p:cNvCxnSpPr/>
          <p:nvPr/>
        </p:nvCxnSpPr>
        <p:spPr>
          <a:xfrm>
            <a:off x="11667600" y="594000"/>
            <a:ext cx="720" cy="412560"/>
          </a:xfrm>
          <a:prstGeom prst="straightConnector1">
            <a:avLst/>
          </a:prstGeom>
          <a:ln w="9360">
            <a:solidFill>
              <a:srgbClr val="7E9A7E"/>
            </a:solidFill>
            <a:round/>
          </a:ln>
        </p:spPr>
      </p:cxnSp>
      <p:sp>
        <p:nvSpPr>
          <p:cNvPr id="86" name="Oval 4"/>
          <p:cNvSpPr/>
          <p:nvPr/>
        </p:nvSpPr>
        <p:spPr>
          <a:xfrm>
            <a:off x="11475720" y="320040"/>
            <a:ext cx="164160" cy="273960"/>
          </a:xfrm>
          <a:custGeom>
            <a:avLst/>
            <a:gdLst>
              <a:gd name="textAreaLeft" fmla="*/ 23760 w 164160"/>
              <a:gd name="textAreaRight" fmla="*/ 140400 w 164160"/>
              <a:gd name="textAreaTop" fmla="*/ 39960 h 273960"/>
              <a:gd name="textAreaBottom" fmla="*/ 234000 h 273960"/>
            </a:gdLst>
            <a:ahLst/>
            <a:cxnLst/>
            <a:rect l="textAreaLeft" t="textAreaTop" r="textAreaRight" b="textAreaBottom"/>
            <a:pathLst>
              <a:path w="21600" h="36016">
                <a:moveTo>
                  <a:pt x="0" y="18008"/>
                </a:moveTo>
                <a:lnTo>
                  <a:pt x="0" y="18008"/>
                </a:lnTo>
                <a:arcTo wR="0" hR="0" stAng="0" swAng="0"/>
                <a:lnTo>
                  <a:pt x="0" y="18008"/>
                </a:lnTo>
                <a:arcTo wR="10800" hR="18008" stAng="-10800000" swAng="21550000"/>
                <a:close/>
              </a:path>
            </a:pathLst>
          </a:custGeom>
          <a:solidFill>
            <a:srgbClr val="704C91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Oval 5"/>
          <p:cNvSpPr/>
          <p:nvPr/>
        </p:nvSpPr>
        <p:spPr>
          <a:xfrm>
            <a:off x="11602080" y="292680"/>
            <a:ext cx="164160" cy="312480"/>
          </a:xfrm>
          <a:custGeom>
            <a:avLst/>
            <a:gdLst>
              <a:gd name="textAreaLeft" fmla="*/ 23760 w 164160"/>
              <a:gd name="textAreaRight" fmla="*/ 140400 w 164160"/>
              <a:gd name="textAreaTop" fmla="*/ 45720 h 312480"/>
              <a:gd name="textAreaBottom" fmla="*/ 266760 h 312480"/>
            </a:gdLst>
            <a:ahLst/>
            <a:cxnLst/>
            <a:rect l="textAreaLeft" t="textAreaTop" r="textAreaRight" b="textAreaBottom"/>
            <a:pathLst>
              <a:path w="21600" h="41073">
                <a:moveTo>
                  <a:pt x="0" y="20537"/>
                </a:moveTo>
                <a:lnTo>
                  <a:pt x="0" y="20537"/>
                </a:lnTo>
                <a:arcTo wR="0" hR="0" stAng="0" swAng="0"/>
                <a:lnTo>
                  <a:pt x="0" y="20537"/>
                </a:lnTo>
                <a:arcTo wR="10800" hR="20537" stAng="-10800000" swAng="21550000"/>
                <a:close/>
              </a:path>
            </a:pathLst>
          </a:custGeom>
          <a:solidFill>
            <a:srgbClr val="704C91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Oval 6"/>
          <p:cNvSpPr/>
          <p:nvPr/>
        </p:nvSpPr>
        <p:spPr>
          <a:xfrm>
            <a:off x="11728080" y="320040"/>
            <a:ext cx="164160" cy="273960"/>
          </a:xfrm>
          <a:custGeom>
            <a:avLst/>
            <a:gdLst>
              <a:gd name="textAreaLeft" fmla="*/ 23760 w 164160"/>
              <a:gd name="textAreaRight" fmla="*/ 140400 w 164160"/>
              <a:gd name="textAreaTop" fmla="*/ 39960 h 273960"/>
              <a:gd name="textAreaBottom" fmla="*/ 234000 h 273960"/>
            </a:gdLst>
            <a:ahLst/>
            <a:cxnLst/>
            <a:rect l="textAreaLeft" t="textAreaTop" r="textAreaRight" b="textAreaBottom"/>
            <a:pathLst>
              <a:path w="21600" h="36016">
                <a:moveTo>
                  <a:pt x="0" y="18008"/>
                </a:moveTo>
                <a:lnTo>
                  <a:pt x="0" y="18008"/>
                </a:lnTo>
                <a:arcTo wR="0" hR="0" stAng="0" swAng="0"/>
                <a:lnTo>
                  <a:pt x="0" y="18008"/>
                </a:lnTo>
                <a:arcTo wR="10800" hR="18008" stAng="-10800000" swAng="21550000"/>
                <a:close/>
              </a:path>
            </a:pathLst>
          </a:custGeom>
          <a:solidFill>
            <a:srgbClr val="704C91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Rounded Rectangle 8"/>
          <p:cNvSpPr/>
          <p:nvPr/>
        </p:nvSpPr>
        <p:spPr>
          <a:xfrm>
            <a:off x="720000" y="1508400"/>
            <a:ext cx="10926720" cy="4251600"/>
          </a:xfrm>
          <a:custGeom>
            <a:avLst/>
            <a:gdLst>
              <a:gd name="textAreaLeft" fmla="*/ 207360 w 10926720"/>
              <a:gd name="textAreaRight" fmla="*/ 10719360 w 10926720"/>
              <a:gd name="textAreaTop" fmla="*/ 207360 h 4251600"/>
              <a:gd name="textAreaBottom" fmla="*/ 4044240 h 4251600"/>
            </a:gdLst>
            <a:ahLst/>
            <a:cxnLst/>
            <a:rect l="textAreaLeft" t="textAreaTop" r="textAreaRight" b="textAreaBottom"/>
            <a:pathLst>
              <a:path w="55510" h="21600">
                <a:moveTo>
                  <a:pt x="3600" y="0"/>
                </a:moveTo>
                <a:arcTo wR="3600" hR="3600" stAng="16200000" swAng="-5400000"/>
                <a:lnTo>
                  <a:pt x="0" y="18000"/>
                </a:lnTo>
                <a:arcTo wR="3600" hR="3600" stAng="10800000" swAng="-5400000"/>
                <a:lnTo>
                  <a:pt x="51910" y="21600"/>
                </a:lnTo>
                <a:arcTo wR="3600" hR="3600" stAng="5400000" swAng="-5400000"/>
                <a:lnTo>
                  <a:pt x="55510" y="3600"/>
                </a:lnTo>
                <a:arcTo wR="3600" hR="3600" stAng="0" swAng="-5400000"/>
                <a:close/>
              </a:path>
            </a:pathLst>
          </a:custGeom>
          <a:solidFill>
            <a:srgbClr val="F1EAF8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9"/>
          <p:cNvSpPr/>
          <p:nvPr/>
        </p:nvSpPr>
        <p:spPr>
          <a:xfrm>
            <a:off x="3060000" y="441360"/>
            <a:ext cx="8046360" cy="639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>
              <a:lnSpc>
                <a:spcPct val="100000"/>
              </a:lnSpc>
            </a:pPr>
            <a:r>
              <a:rPr lang="en-US" sz="3600" b="1" u="none" strike="noStrike">
                <a:solidFill>
                  <a:srgbClr val="704C91"/>
                </a:solidFill>
                <a:effectLst/>
                <a:uFillTx/>
                <a:latin typeface="Aptos"/>
              </a:rPr>
              <a:t>PROJECT STATEMENT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10"/>
          <p:cNvSpPr/>
          <p:nvPr/>
        </p:nvSpPr>
        <p:spPr>
          <a:xfrm>
            <a:off x="1080000" y="1888920"/>
            <a:ext cx="10080000" cy="7002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89"/>
              </a:spcAf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Customer churn is a major challenge for banks because losing customers can affect revenue and long-term business growth. 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2" name="Connector 11"/>
          <p:cNvCxnSpPr/>
          <p:nvPr/>
        </p:nvCxnSpPr>
        <p:spPr>
          <a:xfrm>
            <a:off x="9539280" y="4594680"/>
            <a:ext cx="720" cy="652320"/>
          </a:xfrm>
          <a:prstGeom prst="straightConnector1">
            <a:avLst/>
          </a:prstGeom>
          <a:ln w="9360">
            <a:solidFill>
              <a:srgbClr val="7E9A7E"/>
            </a:solidFill>
            <a:round/>
          </a:ln>
        </p:spPr>
      </p:cxnSp>
      <p:sp>
        <p:nvSpPr>
          <p:cNvPr id="93" name="Oval 12"/>
          <p:cNvSpPr/>
          <p:nvPr/>
        </p:nvSpPr>
        <p:spPr>
          <a:xfrm>
            <a:off x="9235440" y="4160520"/>
            <a:ext cx="260280" cy="434160"/>
          </a:xfrm>
          <a:custGeom>
            <a:avLst/>
            <a:gdLst>
              <a:gd name="textAreaLeft" fmla="*/ 38160 w 260280"/>
              <a:gd name="textAreaRight" fmla="*/ 222120 w 260280"/>
              <a:gd name="textAreaTop" fmla="*/ 63360 h 434160"/>
              <a:gd name="textAreaBottom" fmla="*/ 370800 h 434160"/>
            </a:gdLst>
            <a:ahLst/>
            <a:cxnLst/>
            <a:rect l="textAreaLeft" t="textAreaTop" r="textAreaRight" b="textAreaBottom"/>
            <a:pathLst>
              <a:path w="21600" h="36010">
                <a:moveTo>
                  <a:pt x="0" y="18005"/>
                </a:moveTo>
                <a:lnTo>
                  <a:pt x="0" y="18005"/>
                </a:lnTo>
                <a:arcTo wR="0" hR="0" stAng="0" swAng="0"/>
                <a:lnTo>
                  <a:pt x="0" y="18005"/>
                </a:lnTo>
                <a:arcTo wR="10800" hR="18005" stAng="-10800000" swAng="21550000"/>
                <a:close/>
              </a:path>
            </a:pathLst>
          </a:custGeom>
          <a:solidFill>
            <a:srgbClr val="704C91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Oval 13"/>
          <p:cNvSpPr/>
          <p:nvPr/>
        </p:nvSpPr>
        <p:spPr>
          <a:xfrm>
            <a:off x="9435240" y="4116960"/>
            <a:ext cx="260280" cy="494640"/>
          </a:xfrm>
          <a:custGeom>
            <a:avLst/>
            <a:gdLst>
              <a:gd name="textAreaLeft" fmla="*/ 38160 w 260280"/>
              <a:gd name="textAreaRight" fmla="*/ 222120 w 260280"/>
              <a:gd name="textAreaTop" fmla="*/ 72360 h 494640"/>
              <a:gd name="textAreaBottom" fmla="*/ 422280 h 494640"/>
            </a:gdLst>
            <a:ahLst/>
            <a:cxnLst/>
            <a:rect l="textAreaLeft" t="textAreaTop" r="textAreaRight" b="textAreaBottom"/>
            <a:pathLst>
              <a:path w="21600" h="41022">
                <a:moveTo>
                  <a:pt x="0" y="20511"/>
                </a:moveTo>
                <a:lnTo>
                  <a:pt x="0" y="20511"/>
                </a:lnTo>
                <a:arcTo wR="0" hR="0" stAng="0" swAng="0"/>
                <a:lnTo>
                  <a:pt x="0" y="20511"/>
                </a:lnTo>
                <a:arcTo wR="10800" hR="20511" stAng="-10800000" swAng="21550000"/>
                <a:close/>
              </a:path>
            </a:pathLst>
          </a:custGeom>
          <a:solidFill>
            <a:srgbClr val="704C91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Oval 14"/>
          <p:cNvSpPr/>
          <p:nvPr/>
        </p:nvSpPr>
        <p:spPr>
          <a:xfrm>
            <a:off x="9635040" y="4160520"/>
            <a:ext cx="260280" cy="434160"/>
          </a:xfrm>
          <a:custGeom>
            <a:avLst/>
            <a:gdLst>
              <a:gd name="textAreaLeft" fmla="*/ 38160 w 260280"/>
              <a:gd name="textAreaRight" fmla="*/ 222120 w 260280"/>
              <a:gd name="textAreaTop" fmla="*/ 63360 h 434160"/>
              <a:gd name="textAreaBottom" fmla="*/ 370800 h 434160"/>
            </a:gdLst>
            <a:ahLst/>
            <a:cxnLst/>
            <a:rect l="textAreaLeft" t="textAreaTop" r="textAreaRight" b="textAreaBottom"/>
            <a:pathLst>
              <a:path w="21600" h="36010">
                <a:moveTo>
                  <a:pt x="0" y="18005"/>
                </a:moveTo>
                <a:lnTo>
                  <a:pt x="0" y="18005"/>
                </a:lnTo>
                <a:arcTo wR="0" hR="0" stAng="0" swAng="0"/>
                <a:lnTo>
                  <a:pt x="0" y="18005"/>
                </a:lnTo>
                <a:arcTo wR="10800" hR="18005" stAng="-10800000" swAng="21550000"/>
                <a:close/>
              </a:path>
            </a:pathLst>
          </a:custGeom>
          <a:solidFill>
            <a:srgbClr val="704C91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96" name="Connector 15"/>
          <p:cNvCxnSpPr/>
          <p:nvPr/>
        </p:nvCxnSpPr>
        <p:spPr>
          <a:xfrm>
            <a:off x="10133640" y="4594680"/>
            <a:ext cx="720" cy="652320"/>
          </a:xfrm>
          <a:prstGeom prst="straightConnector1">
            <a:avLst/>
          </a:prstGeom>
          <a:ln w="9360">
            <a:solidFill>
              <a:srgbClr val="7E9A7E"/>
            </a:solidFill>
            <a:round/>
          </a:ln>
        </p:spPr>
      </p:cxnSp>
      <p:sp>
        <p:nvSpPr>
          <p:cNvPr id="97" name="Oval 16"/>
          <p:cNvSpPr/>
          <p:nvPr/>
        </p:nvSpPr>
        <p:spPr>
          <a:xfrm>
            <a:off x="9829800" y="4160520"/>
            <a:ext cx="260280" cy="434160"/>
          </a:xfrm>
          <a:custGeom>
            <a:avLst/>
            <a:gdLst>
              <a:gd name="textAreaLeft" fmla="*/ 38160 w 260280"/>
              <a:gd name="textAreaRight" fmla="*/ 222120 w 260280"/>
              <a:gd name="textAreaTop" fmla="*/ 63360 h 434160"/>
              <a:gd name="textAreaBottom" fmla="*/ 370800 h 434160"/>
            </a:gdLst>
            <a:ahLst/>
            <a:cxnLst/>
            <a:rect l="textAreaLeft" t="textAreaTop" r="textAreaRight" b="textAreaBottom"/>
            <a:pathLst>
              <a:path w="21600" h="36010">
                <a:moveTo>
                  <a:pt x="0" y="18005"/>
                </a:moveTo>
                <a:lnTo>
                  <a:pt x="0" y="18005"/>
                </a:lnTo>
                <a:arcTo wR="0" hR="0" stAng="0" swAng="0"/>
                <a:lnTo>
                  <a:pt x="0" y="18005"/>
                </a:lnTo>
                <a:arcTo wR="10800" hR="18005" stAng="-10800000" swAng="21550000"/>
                <a:close/>
              </a:path>
            </a:pathLst>
          </a:custGeom>
          <a:solidFill>
            <a:srgbClr val="D3A4BE"/>
          </a:solidFill>
          <a:ln w="9360">
            <a:solidFill>
              <a:srgbClr val="D3A4BE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Oval 17"/>
          <p:cNvSpPr/>
          <p:nvPr/>
        </p:nvSpPr>
        <p:spPr>
          <a:xfrm>
            <a:off x="10029600" y="4116960"/>
            <a:ext cx="260280" cy="494640"/>
          </a:xfrm>
          <a:custGeom>
            <a:avLst/>
            <a:gdLst>
              <a:gd name="textAreaLeft" fmla="*/ 38160 w 260280"/>
              <a:gd name="textAreaRight" fmla="*/ 222120 w 260280"/>
              <a:gd name="textAreaTop" fmla="*/ 72360 h 494640"/>
              <a:gd name="textAreaBottom" fmla="*/ 422280 h 494640"/>
            </a:gdLst>
            <a:ahLst/>
            <a:cxnLst/>
            <a:rect l="textAreaLeft" t="textAreaTop" r="textAreaRight" b="textAreaBottom"/>
            <a:pathLst>
              <a:path w="21600" h="41022">
                <a:moveTo>
                  <a:pt x="0" y="20511"/>
                </a:moveTo>
                <a:lnTo>
                  <a:pt x="0" y="20511"/>
                </a:lnTo>
                <a:arcTo wR="0" hR="0" stAng="0" swAng="0"/>
                <a:lnTo>
                  <a:pt x="0" y="20511"/>
                </a:lnTo>
                <a:arcTo wR="10800" hR="20511" stAng="-10800000" swAng="21550000"/>
                <a:close/>
              </a:path>
            </a:pathLst>
          </a:custGeom>
          <a:solidFill>
            <a:srgbClr val="D3A4BE"/>
          </a:solidFill>
          <a:ln w="9360">
            <a:solidFill>
              <a:srgbClr val="D3A4BE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Oval 18"/>
          <p:cNvSpPr/>
          <p:nvPr/>
        </p:nvSpPr>
        <p:spPr>
          <a:xfrm>
            <a:off x="10229400" y="4160520"/>
            <a:ext cx="260280" cy="434160"/>
          </a:xfrm>
          <a:custGeom>
            <a:avLst/>
            <a:gdLst>
              <a:gd name="textAreaLeft" fmla="*/ 38160 w 260280"/>
              <a:gd name="textAreaRight" fmla="*/ 222120 w 260280"/>
              <a:gd name="textAreaTop" fmla="*/ 63360 h 434160"/>
              <a:gd name="textAreaBottom" fmla="*/ 370800 h 434160"/>
            </a:gdLst>
            <a:ahLst/>
            <a:cxnLst/>
            <a:rect l="textAreaLeft" t="textAreaTop" r="textAreaRight" b="textAreaBottom"/>
            <a:pathLst>
              <a:path w="21600" h="36010">
                <a:moveTo>
                  <a:pt x="0" y="18005"/>
                </a:moveTo>
                <a:lnTo>
                  <a:pt x="0" y="18005"/>
                </a:lnTo>
                <a:arcTo wR="0" hR="0" stAng="0" swAng="0"/>
                <a:lnTo>
                  <a:pt x="0" y="18005"/>
                </a:lnTo>
                <a:arcTo wR="10800" hR="18005" stAng="-10800000" swAng="21550000"/>
                <a:close/>
              </a:path>
            </a:pathLst>
          </a:custGeom>
          <a:solidFill>
            <a:srgbClr val="D3A4BE"/>
          </a:solidFill>
          <a:ln w="9360">
            <a:solidFill>
              <a:srgbClr val="D3A4BE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0" name="Connector 19"/>
          <p:cNvCxnSpPr/>
          <p:nvPr/>
        </p:nvCxnSpPr>
        <p:spPr>
          <a:xfrm>
            <a:off x="10728000" y="4594680"/>
            <a:ext cx="720" cy="652320"/>
          </a:xfrm>
          <a:prstGeom prst="straightConnector1">
            <a:avLst/>
          </a:prstGeom>
          <a:ln w="9360">
            <a:solidFill>
              <a:srgbClr val="7E9A7E"/>
            </a:solidFill>
            <a:round/>
          </a:ln>
        </p:spPr>
      </p:cxnSp>
      <p:sp>
        <p:nvSpPr>
          <p:cNvPr id="101" name="Oval 20"/>
          <p:cNvSpPr/>
          <p:nvPr/>
        </p:nvSpPr>
        <p:spPr>
          <a:xfrm>
            <a:off x="10424160" y="4160520"/>
            <a:ext cx="260280" cy="434160"/>
          </a:xfrm>
          <a:custGeom>
            <a:avLst/>
            <a:gdLst>
              <a:gd name="textAreaLeft" fmla="*/ 38160 w 260280"/>
              <a:gd name="textAreaRight" fmla="*/ 222120 w 260280"/>
              <a:gd name="textAreaTop" fmla="*/ 63360 h 434160"/>
              <a:gd name="textAreaBottom" fmla="*/ 370800 h 434160"/>
            </a:gdLst>
            <a:ahLst/>
            <a:cxnLst/>
            <a:rect l="textAreaLeft" t="textAreaTop" r="textAreaRight" b="textAreaBottom"/>
            <a:pathLst>
              <a:path w="21600" h="36010">
                <a:moveTo>
                  <a:pt x="0" y="18005"/>
                </a:moveTo>
                <a:lnTo>
                  <a:pt x="0" y="18005"/>
                </a:lnTo>
                <a:arcTo wR="0" hR="0" stAng="0" swAng="0"/>
                <a:lnTo>
                  <a:pt x="0" y="18005"/>
                </a:lnTo>
                <a:arcTo wR="10800" hR="18005" stAng="-10800000" swAng="21550000"/>
                <a:close/>
              </a:path>
            </a:pathLst>
          </a:custGeom>
          <a:solidFill>
            <a:srgbClr val="704C91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Oval 21"/>
          <p:cNvSpPr/>
          <p:nvPr/>
        </p:nvSpPr>
        <p:spPr>
          <a:xfrm>
            <a:off x="10623960" y="4116960"/>
            <a:ext cx="260280" cy="494640"/>
          </a:xfrm>
          <a:custGeom>
            <a:avLst/>
            <a:gdLst>
              <a:gd name="textAreaLeft" fmla="*/ 38160 w 260280"/>
              <a:gd name="textAreaRight" fmla="*/ 222120 w 260280"/>
              <a:gd name="textAreaTop" fmla="*/ 72360 h 494640"/>
              <a:gd name="textAreaBottom" fmla="*/ 422280 h 494640"/>
            </a:gdLst>
            <a:ahLst/>
            <a:cxnLst/>
            <a:rect l="textAreaLeft" t="textAreaTop" r="textAreaRight" b="textAreaBottom"/>
            <a:pathLst>
              <a:path w="21600" h="41022">
                <a:moveTo>
                  <a:pt x="0" y="20511"/>
                </a:moveTo>
                <a:lnTo>
                  <a:pt x="0" y="20511"/>
                </a:lnTo>
                <a:arcTo wR="0" hR="0" stAng="0" swAng="0"/>
                <a:lnTo>
                  <a:pt x="0" y="20511"/>
                </a:lnTo>
                <a:arcTo wR="10800" hR="20511" stAng="-10800000" swAng="21550000"/>
                <a:close/>
              </a:path>
            </a:pathLst>
          </a:custGeom>
          <a:solidFill>
            <a:srgbClr val="704C91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Oval 22"/>
          <p:cNvSpPr/>
          <p:nvPr/>
        </p:nvSpPr>
        <p:spPr>
          <a:xfrm>
            <a:off x="10823760" y="4160520"/>
            <a:ext cx="260280" cy="434160"/>
          </a:xfrm>
          <a:custGeom>
            <a:avLst/>
            <a:gdLst>
              <a:gd name="textAreaLeft" fmla="*/ 38160 w 260280"/>
              <a:gd name="textAreaRight" fmla="*/ 222120 w 260280"/>
              <a:gd name="textAreaTop" fmla="*/ 63360 h 434160"/>
              <a:gd name="textAreaBottom" fmla="*/ 370800 h 434160"/>
            </a:gdLst>
            <a:ahLst/>
            <a:cxnLst/>
            <a:rect l="textAreaLeft" t="textAreaTop" r="textAreaRight" b="textAreaBottom"/>
            <a:pathLst>
              <a:path w="21600" h="36010">
                <a:moveTo>
                  <a:pt x="0" y="18005"/>
                </a:moveTo>
                <a:lnTo>
                  <a:pt x="0" y="18005"/>
                </a:lnTo>
                <a:arcTo wR="0" hR="0" stAng="0" swAng="0"/>
                <a:lnTo>
                  <a:pt x="0" y="18005"/>
                </a:lnTo>
                <a:arcTo wR="10800" hR="18005" stAng="-10800000" swAng="21550000"/>
                <a:close/>
              </a:path>
            </a:pathLst>
          </a:custGeom>
          <a:solidFill>
            <a:srgbClr val="704C91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1"/>
          <p:cNvSpPr txBox="1"/>
          <p:nvPr/>
        </p:nvSpPr>
        <p:spPr>
          <a:xfrm>
            <a:off x="1212840" y="2923560"/>
            <a:ext cx="7791120" cy="1754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The objective of this project is to:</a:t>
            </a:r>
            <a:br>
              <a:rPr sz="1800"/>
            </a:b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Predict whether a customer is likely to leave the bank. 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Identify customers who are at high risk of churn. 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Analyze the factors associated with customer churn. 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Provide suitable retention recommendations for high-risk customers.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1"/>
          <p:cNvSpPr/>
          <p:nvPr/>
        </p:nvSpPr>
        <p:spPr>
          <a:xfrm>
            <a:off x="0" y="0"/>
            <a:ext cx="12191400" cy="145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E1D2F2"/>
          </a:solidFill>
          <a:ln w="9360">
            <a:solidFill>
              <a:srgbClr val="E1D2F2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Rectangle 2"/>
          <p:cNvSpPr/>
          <p:nvPr/>
        </p:nvSpPr>
        <p:spPr>
          <a:xfrm>
            <a:off x="0" y="6711840"/>
            <a:ext cx="12191400" cy="145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1EAF8"/>
          </a:solidFill>
          <a:ln w="9360">
            <a:solidFill>
              <a:srgbClr val="F1EAF8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7" name="Connector 3"/>
          <p:cNvCxnSpPr/>
          <p:nvPr/>
        </p:nvCxnSpPr>
        <p:spPr>
          <a:xfrm>
            <a:off x="11667600" y="594000"/>
            <a:ext cx="720" cy="412560"/>
          </a:xfrm>
          <a:prstGeom prst="straightConnector1">
            <a:avLst/>
          </a:prstGeom>
          <a:ln w="9360">
            <a:solidFill>
              <a:srgbClr val="7E9A7E"/>
            </a:solidFill>
            <a:round/>
          </a:ln>
        </p:spPr>
      </p:cxnSp>
      <p:sp>
        <p:nvSpPr>
          <p:cNvPr id="108" name="Oval 4"/>
          <p:cNvSpPr/>
          <p:nvPr/>
        </p:nvSpPr>
        <p:spPr>
          <a:xfrm>
            <a:off x="11475720" y="320040"/>
            <a:ext cx="164160" cy="273960"/>
          </a:xfrm>
          <a:custGeom>
            <a:avLst/>
            <a:gdLst>
              <a:gd name="textAreaLeft" fmla="*/ 23760 w 164160"/>
              <a:gd name="textAreaRight" fmla="*/ 140400 w 164160"/>
              <a:gd name="textAreaTop" fmla="*/ 39960 h 273960"/>
              <a:gd name="textAreaBottom" fmla="*/ 234000 h 273960"/>
            </a:gdLst>
            <a:ahLst/>
            <a:cxnLst/>
            <a:rect l="textAreaLeft" t="textAreaTop" r="textAreaRight" b="textAreaBottom"/>
            <a:pathLst>
              <a:path w="21600" h="36016">
                <a:moveTo>
                  <a:pt x="0" y="18008"/>
                </a:moveTo>
                <a:lnTo>
                  <a:pt x="0" y="18008"/>
                </a:lnTo>
                <a:arcTo wR="0" hR="0" stAng="0" swAng="0"/>
                <a:lnTo>
                  <a:pt x="0" y="18008"/>
                </a:lnTo>
                <a:arcTo wR="10800" hR="18008" stAng="-10800000" swAng="21550000"/>
                <a:close/>
              </a:path>
            </a:pathLst>
          </a:custGeom>
          <a:solidFill>
            <a:srgbClr val="704C91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Oval 5"/>
          <p:cNvSpPr/>
          <p:nvPr/>
        </p:nvSpPr>
        <p:spPr>
          <a:xfrm>
            <a:off x="11602080" y="292680"/>
            <a:ext cx="164160" cy="312480"/>
          </a:xfrm>
          <a:custGeom>
            <a:avLst/>
            <a:gdLst>
              <a:gd name="textAreaLeft" fmla="*/ 23760 w 164160"/>
              <a:gd name="textAreaRight" fmla="*/ 140400 w 164160"/>
              <a:gd name="textAreaTop" fmla="*/ 45720 h 312480"/>
              <a:gd name="textAreaBottom" fmla="*/ 266760 h 312480"/>
            </a:gdLst>
            <a:ahLst/>
            <a:cxnLst/>
            <a:rect l="textAreaLeft" t="textAreaTop" r="textAreaRight" b="textAreaBottom"/>
            <a:pathLst>
              <a:path w="21600" h="41073">
                <a:moveTo>
                  <a:pt x="0" y="20537"/>
                </a:moveTo>
                <a:lnTo>
                  <a:pt x="0" y="20537"/>
                </a:lnTo>
                <a:arcTo wR="0" hR="0" stAng="0" swAng="0"/>
                <a:lnTo>
                  <a:pt x="0" y="20537"/>
                </a:lnTo>
                <a:arcTo wR="10800" hR="20537" stAng="-10800000" swAng="21550000"/>
                <a:close/>
              </a:path>
            </a:pathLst>
          </a:custGeom>
          <a:solidFill>
            <a:srgbClr val="704C91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Oval 6"/>
          <p:cNvSpPr/>
          <p:nvPr/>
        </p:nvSpPr>
        <p:spPr>
          <a:xfrm>
            <a:off x="11728080" y="320040"/>
            <a:ext cx="164160" cy="273960"/>
          </a:xfrm>
          <a:custGeom>
            <a:avLst/>
            <a:gdLst>
              <a:gd name="textAreaLeft" fmla="*/ 23760 w 164160"/>
              <a:gd name="textAreaRight" fmla="*/ 140400 w 164160"/>
              <a:gd name="textAreaTop" fmla="*/ 39960 h 273960"/>
              <a:gd name="textAreaBottom" fmla="*/ 234000 h 273960"/>
            </a:gdLst>
            <a:ahLst/>
            <a:cxnLst/>
            <a:rect l="textAreaLeft" t="textAreaTop" r="textAreaRight" b="textAreaBottom"/>
            <a:pathLst>
              <a:path w="21600" h="36016">
                <a:moveTo>
                  <a:pt x="0" y="18008"/>
                </a:moveTo>
                <a:lnTo>
                  <a:pt x="0" y="18008"/>
                </a:lnTo>
                <a:arcTo wR="0" hR="0" stAng="0" swAng="0"/>
                <a:lnTo>
                  <a:pt x="0" y="18008"/>
                </a:lnTo>
                <a:arcTo wR="10800" hR="18008" stAng="-10800000" swAng="21550000"/>
                <a:close/>
              </a:path>
            </a:pathLst>
          </a:custGeom>
          <a:solidFill>
            <a:srgbClr val="704C91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7"/>
          <p:cNvSpPr/>
          <p:nvPr/>
        </p:nvSpPr>
        <p:spPr>
          <a:xfrm>
            <a:off x="1557720" y="356040"/>
            <a:ext cx="8137080" cy="639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>
              <a:lnSpc>
                <a:spcPct val="100000"/>
              </a:lnSpc>
            </a:pPr>
            <a:r>
              <a:rPr lang="en-US" sz="3600" b="1" u="none" strike="noStrike">
                <a:solidFill>
                  <a:srgbClr val="614B7C"/>
                </a:solidFill>
                <a:effectLst/>
                <a:uFillTx/>
                <a:latin typeface="Aptos"/>
                <a:ea typeface="Calibri"/>
              </a:rPr>
              <a:t>Project Objectives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2" name="Connector 8"/>
          <p:cNvCxnSpPr/>
          <p:nvPr/>
        </p:nvCxnSpPr>
        <p:spPr>
          <a:xfrm>
            <a:off x="594360" y="1088280"/>
            <a:ext cx="5996160" cy="720"/>
          </a:xfrm>
          <a:prstGeom prst="straightConnector1">
            <a:avLst/>
          </a:prstGeom>
          <a:ln w="28080">
            <a:solidFill>
              <a:srgbClr val="704C91"/>
            </a:solidFill>
            <a:round/>
          </a:ln>
        </p:spPr>
      </p:cxnSp>
      <p:sp>
        <p:nvSpPr>
          <p:cNvPr id="113" name="Rounded Rectangle 10"/>
          <p:cNvSpPr/>
          <p:nvPr/>
        </p:nvSpPr>
        <p:spPr>
          <a:xfrm>
            <a:off x="640080" y="1417320"/>
            <a:ext cx="6903360" cy="4525920"/>
          </a:xfrm>
          <a:custGeom>
            <a:avLst/>
            <a:gdLst>
              <a:gd name="textAreaLeft" fmla="*/ 220680 w 6903360"/>
              <a:gd name="textAreaRight" fmla="*/ 6682680 w 6903360"/>
              <a:gd name="textAreaTop" fmla="*/ 220680 h 4525920"/>
              <a:gd name="textAreaBottom" fmla="*/ 4305240 h 4525920"/>
            </a:gdLst>
            <a:ahLst/>
            <a:cxnLst/>
            <a:rect l="textAreaLeft" t="textAreaTop" r="textAreaRight" b="textAreaBottom"/>
            <a:pathLst>
              <a:path w="32945" h="21600">
                <a:moveTo>
                  <a:pt x="3600" y="0"/>
                </a:moveTo>
                <a:arcTo wR="3600" hR="3600" stAng="16200000" swAng="-5400000"/>
                <a:lnTo>
                  <a:pt x="0" y="18000"/>
                </a:lnTo>
                <a:arcTo wR="3600" hR="3600" stAng="10800000" swAng="-5400000"/>
                <a:lnTo>
                  <a:pt x="29345" y="21600"/>
                </a:lnTo>
                <a:arcTo wR="3600" hR="3600" stAng="5400000" swAng="-5400000"/>
                <a:lnTo>
                  <a:pt x="32945" y="3600"/>
                </a:lnTo>
                <a:arcTo wR="3600" hR="3600" stAng="0" swAng="-5400000"/>
                <a:close/>
              </a:path>
            </a:pathLst>
          </a:custGeom>
          <a:solidFill>
            <a:srgbClr val="FFFFFF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11"/>
          <p:cNvSpPr/>
          <p:nvPr/>
        </p:nvSpPr>
        <p:spPr>
          <a:xfrm>
            <a:off x="914400" y="1758960"/>
            <a:ext cx="594000" cy="3679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12"/>
          <p:cNvSpPr/>
          <p:nvPr/>
        </p:nvSpPr>
        <p:spPr>
          <a:xfrm>
            <a:off x="1022400" y="2133360"/>
            <a:ext cx="5394600" cy="4561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Objectives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​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13"/>
          <p:cNvSpPr/>
          <p:nvPr/>
        </p:nvSpPr>
        <p:spPr>
          <a:xfrm>
            <a:off x="957600" y="3691080"/>
            <a:ext cx="5996880" cy="6411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15"/>
          <p:cNvSpPr/>
          <p:nvPr/>
        </p:nvSpPr>
        <p:spPr>
          <a:xfrm>
            <a:off x="1188720" y="3842640"/>
            <a:ext cx="5394600" cy="306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17"/>
          <p:cNvSpPr/>
          <p:nvPr/>
        </p:nvSpPr>
        <p:spPr>
          <a:xfrm>
            <a:off x="1188720" y="4345560"/>
            <a:ext cx="5394600" cy="306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19"/>
          <p:cNvSpPr/>
          <p:nvPr/>
        </p:nvSpPr>
        <p:spPr>
          <a:xfrm>
            <a:off x="1188720" y="4848480"/>
            <a:ext cx="5394600" cy="306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21"/>
          <p:cNvSpPr/>
          <p:nvPr/>
        </p:nvSpPr>
        <p:spPr>
          <a:xfrm>
            <a:off x="8046720" y="3534840"/>
            <a:ext cx="3291480" cy="290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sp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1"/>
          <p:cNvSpPr txBox="1"/>
          <p:nvPr/>
        </p:nvSpPr>
        <p:spPr>
          <a:xfrm>
            <a:off x="1025640" y="2752560"/>
            <a:ext cx="5551560" cy="2862360"/>
          </a:xfrm>
          <a:prstGeom prst="rect">
            <a:avLst/>
          </a:prstGeom>
          <a:noFill/>
          <a:ln w="0">
            <a:noFill/>
          </a:ln>
        </p:spPr>
        <p:txBody>
          <a:bodyPr anchor="t">
            <a:spAutoFit/>
          </a:bodyPr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Analyze customer banking data. 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Perform data cleaning and exploratory data analysis. 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Identify patterns related to customer churn. 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Build and compare multiple classification models. 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Tune the best-performing model. 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Predict churn probability and risk level. 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Provide customer retention recommendations. 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Develop an interactive Streamlit application.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2" name="Picture 2"/>
          <p:cNvPicPr/>
          <p:nvPr/>
        </p:nvPicPr>
        <p:blipFill>
          <a:blip r:embed="rId1"/>
          <a:srcRect l="50025" t="6281" r="4085" b="6695"/>
          <a:stretch/>
        </p:blipFill>
        <p:spPr>
          <a:xfrm>
            <a:off x="7895880" y="1712160"/>
            <a:ext cx="3908520" cy="4229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1"/>
          <p:cNvSpPr/>
          <p:nvPr/>
        </p:nvSpPr>
        <p:spPr>
          <a:xfrm>
            <a:off x="0" y="0"/>
            <a:ext cx="12191400" cy="145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E1D2F2"/>
          </a:solidFill>
          <a:ln w="9360">
            <a:solidFill>
              <a:srgbClr val="E1D2F2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Rectangle 2"/>
          <p:cNvSpPr/>
          <p:nvPr/>
        </p:nvSpPr>
        <p:spPr>
          <a:xfrm>
            <a:off x="0" y="6711840"/>
            <a:ext cx="12191400" cy="145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1EAF8"/>
          </a:solidFill>
          <a:ln w="9360">
            <a:solidFill>
              <a:srgbClr val="F1EAF8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5" name="Connector 3"/>
          <p:cNvCxnSpPr/>
          <p:nvPr/>
        </p:nvCxnSpPr>
        <p:spPr>
          <a:xfrm>
            <a:off x="11667600" y="594000"/>
            <a:ext cx="720" cy="412560"/>
          </a:xfrm>
          <a:prstGeom prst="straightConnector1">
            <a:avLst/>
          </a:prstGeom>
          <a:ln w="9360">
            <a:solidFill>
              <a:srgbClr val="7E9A7E"/>
            </a:solidFill>
            <a:round/>
          </a:ln>
        </p:spPr>
      </p:cxnSp>
      <p:sp>
        <p:nvSpPr>
          <p:cNvPr id="126" name="Oval 4"/>
          <p:cNvSpPr/>
          <p:nvPr/>
        </p:nvSpPr>
        <p:spPr>
          <a:xfrm>
            <a:off x="11475720" y="320040"/>
            <a:ext cx="164160" cy="273960"/>
          </a:xfrm>
          <a:custGeom>
            <a:avLst/>
            <a:gdLst>
              <a:gd name="textAreaLeft" fmla="*/ 23760 w 164160"/>
              <a:gd name="textAreaRight" fmla="*/ 140400 w 164160"/>
              <a:gd name="textAreaTop" fmla="*/ 39960 h 273960"/>
              <a:gd name="textAreaBottom" fmla="*/ 234000 h 273960"/>
            </a:gdLst>
            <a:ahLst/>
            <a:cxnLst/>
            <a:rect l="textAreaLeft" t="textAreaTop" r="textAreaRight" b="textAreaBottom"/>
            <a:pathLst>
              <a:path w="21600" h="36016">
                <a:moveTo>
                  <a:pt x="0" y="18008"/>
                </a:moveTo>
                <a:lnTo>
                  <a:pt x="0" y="18008"/>
                </a:lnTo>
                <a:arcTo wR="0" hR="0" stAng="0" swAng="0"/>
                <a:lnTo>
                  <a:pt x="0" y="18008"/>
                </a:lnTo>
                <a:arcTo wR="10800" hR="18008" stAng="-10800000" swAng="21550000"/>
                <a:close/>
              </a:path>
            </a:pathLst>
          </a:custGeom>
          <a:solidFill>
            <a:srgbClr val="704C91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Oval 5"/>
          <p:cNvSpPr/>
          <p:nvPr/>
        </p:nvSpPr>
        <p:spPr>
          <a:xfrm>
            <a:off x="11602080" y="292680"/>
            <a:ext cx="164160" cy="312480"/>
          </a:xfrm>
          <a:custGeom>
            <a:avLst/>
            <a:gdLst>
              <a:gd name="textAreaLeft" fmla="*/ 23760 w 164160"/>
              <a:gd name="textAreaRight" fmla="*/ 140400 w 164160"/>
              <a:gd name="textAreaTop" fmla="*/ 45720 h 312480"/>
              <a:gd name="textAreaBottom" fmla="*/ 266760 h 312480"/>
            </a:gdLst>
            <a:ahLst/>
            <a:cxnLst/>
            <a:rect l="textAreaLeft" t="textAreaTop" r="textAreaRight" b="textAreaBottom"/>
            <a:pathLst>
              <a:path w="21600" h="41073">
                <a:moveTo>
                  <a:pt x="0" y="20537"/>
                </a:moveTo>
                <a:lnTo>
                  <a:pt x="0" y="20537"/>
                </a:lnTo>
                <a:arcTo wR="0" hR="0" stAng="0" swAng="0"/>
                <a:lnTo>
                  <a:pt x="0" y="20537"/>
                </a:lnTo>
                <a:arcTo wR="10800" hR="20537" stAng="-10800000" swAng="21550000"/>
                <a:close/>
              </a:path>
            </a:pathLst>
          </a:custGeom>
          <a:solidFill>
            <a:srgbClr val="704C91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Oval 6"/>
          <p:cNvSpPr/>
          <p:nvPr/>
        </p:nvSpPr>
        <p:spPr>
          <a:xfrm>
            <a:off x="11728080" y="320040"/>
            <a:ext cx="164160" cy="273960"/>
          </a:xfrm>
          <a:custGeom>
            <a:avLst/>
            <a:gdLst>
              <a:gd name="textAreaLeft" fmla="*/ 23760 w 164160"/>
              <a:gd name="textAreaRight" fmla="*/ 140400 w 164160"/>
              <a:gd name="textAreaTop" fmla="*/ 39960 h 273960"/>
              <a:gd name="textAreaBottom" fmla="*/ 234000 h 273960"/>
            </a:gdLst>
            <a:ahLst/>
            <a:cxnLst/>
            <a:rect l="textAreaLeft" t="textAreaTop" r="textAreaRight" b="textAreaBottom"/>
            <a:pathLst>
              <a:path w="21600" h="36016">
                <a:moveTo>
                  <a:pt x="0" y="18008"/>
                </a:moveTo>
                <a:lnTo>
                  <a:pt x="0" y="18008"/>
                </a:lnTo>
                <a:arcTo wR="0" hR="0" stAng="0" swAng="0"/>
                <a:lnTo>
                  <a:pt x="0" y="18008"/>
                </a:lnTo>
                <a:arcTo wR="10800" hR="18008" stAng="-10800000" swAng="21550000"/>
                <a:close/>
              </a:path>
            </a:pathLst>
          </a:custGeom>
          <a:solidFill>
            <a:srgbClr val="704C91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7"/>
          <p:cNvSpPr/>
          <p:nvPr/>
        </p:nvSpPr>
        <p:spPr>
          <a:xfrm>
            <a:off x="953640" y="417240"/>
            <a:ext cx="9143640" cy="5173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>
              <a:lnSpc>
                <a:spcPct val="100000"/>
              </a:lnSpc>
            </a:pPr>
            <a:r>
              <a:rPr lang="en-US" sz="2800" b="1" u="none" strike="noStrike">
                <a:solidFill>
                  <a:srgbClr val="372B43"/>
                </a:solidFill>
                <a:effectLst/>
                <a:uFillTx/>
                <a:latin typeface="Aptos"/>
              </a:rPr>
              <a:t>Dataset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0" name="Connector 8"/>
          <p:cNvCxnSpPr/>
          <p:nvPr/>
        </p:nvCxnSpPr>
        <p:spPr>
          <a:xfrm>
            <a:off x="594360" y="987480"/>
            <a:ext cx="2286720" cy="720"/>
          </a:xfrm>
          <a:prstGeom prst="straightConnector1">
            <a:avLst/>
          </a:prstGeom>
          <a:ln w="28080">
            <a:solidFill>
              <a:srgbClr val="704C91"/>
            </a:solidFill>
            <a:round/>
          </a:ln>
        </p:spPr>
      </p:cxnSp>
      <p:sp>
        <p:nvSpPr>
          <p:cNvPr id="131" name="Rounded Rectangle 10"/>
          <p:cNvSpPr/>
          <p:nvPr/>
        </p:nvSpPr>
        <p:spPr>
          <a:xfrm>
            <a:off x="7817040" y="1417320"/>
            <a:ext cx="3657240" cy="4480200"/>
          </a:xfrm>
          <a:custGeom>
            <a:avLst/>
            <a:gdLst>
              <a:gd name="textAreaLeft" fmla="*/ 178200 w 3657240"/>
              <a:gd name="textAreaRight" fmla="*/ 3479040 w 3657240"/>
              <a:gd name="textAreaTop" fmla="*/ 178200 h 4480200"/>
              <a:gd name="textAreaBottom" fmla="*/ 4302000 h 4480200"/>
            </a:gdLst>
            <a:ahLst/>
            <a:cxnLst/>
            <a:rect l="textAreaLeft" t="textAreaTop" r="textAreaRight" b="textAreaBottom"/>
            <a:pathLst>
              <a:path w="21600" h="26460">
                <a:moveTo>
                  <a:pt x="3600" y="0"/>
                </a:moveTo>
                <a:arcTo wR="3600" hR="3600" stAng="16200000" swAng="-5400000"/>
                <a:lnTo>
                  <a:pt x="0" y="22860"/>
                </a:lnTo>
                <a:arcTo wR="3600" hR="3600" stAng="10800000" swAng="-5400000"/>
                <a:lnTo>
                  <a:pt x="18000" y="26460"/>
                </a:lnTo>
                <a:arcTo wR="3600" hR="3600" stAng="5400000" swAng="-5400000"/>
                <a:lnTo>
                  <a:pt x="21600" y="3600"/>
                </a:lnTo>
                <a:arcTo wR="3600" hR="3600" stAng="0" swAng="-5400000"/>
                <a:close/>
              </a:path>
            </a:pathLst>
          </a:custGeom>
          <a:solidFill>
            <a:srgbClr val="F1EAF8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Rounded Rectangle 16"/>
          <p:cNvSpPr/>
          <p:nvPr/>
        </p:nvSpPr>
        <p:spPr>
          <a:xfrm>
            <a:off x="594720" y="1417320"/>
            <a:ext cx="6811920" cy="4480200"/>
          </a:xfrm>
          <a:custGeom>
            <a:avLst/>
            <a:gdLst>
              <a:gd name="textAreaLeft" fmla="*/ 218520 w 6811920"/>
              <a:gd name="textAreaRight" fmla="*/ 6593400 w 6811920"/>
              <a:gd name="textAreaTop" fmla="*/ 218520 h 4480200"/>
              <a:gd name="textAreaBottom" fmla="*/ 4261680 h 4480200"/>
            </a:gdLst>
            <a:ahLst/>
            <a:cxnLst/>
            <a:rect l="textAreaLeft" t="textAreaTop" r="textAreaRight" b="textAreaBottom"/>
            <a:pathLst>
              <a:path w="32841" h="21600">
                <a:moveTo>
                  <a:pt x="3600" y="0"/>
                </a:moveTo>
                <a:arcTo wR="3600" hR="3600" stAng="16200000" swAng="-5400000"/>
                <a:lnTo>
                  <a:pt x="0" y="18000"/>
                </a:lnTo>
                <a:arcTo wR="3600" hR="3600" stAng="10800000" swAng="-5400000"/>
                <a:lnTo>
                  <a:pt x="29241" y="21600"/>
                </a:lnTo>
                <a:arcTo wR="3600" hR="3600" stAng="5400000" swAng="-5400000"/>
                <a:lnTo>
                  <a:pt x="32841" y="3600"/>
                </a:lnTo>
                <a:arcTo wR="3600" hR="3600" stAng="0" swAng="-5400000"/>
                <a:close/>
              </a:path>
            </a:pathLst>
          </a:custGeom>
          <a:solidFill>
            <a:srgbClr val="F1EAF8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17"/>
          <p:cNvSpPr/>
          <p:nvPr/>
        </p:nvSpPr>
        <p:spPr>
          <a:xfrm>
            <a:off x="1292400" y="1563480"/>
            <a:ext cx="4222800" cy="13701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>
              <a:lnSpc>
                <a:spcPct val="100000"/>
              </a:lnSpc>
            </a:pPr>
            <a:r>
              <a:rPr lang="en-US" sz="1800" b="1" u="sng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Dataset: Bank Customer Churn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Font typeface=""/>
              <a:buChar char="•"/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 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 10,000 customer records 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Font typeface=""/>
              <a:buChar char="•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   14 features 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Font typeface=""/>
              <a:buChar char="•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   Target variable: Exited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1"/>
          <p:cNvSpPr txBox="1"/>
          <p:nvPr/>
        </p:nvSpPr>
        <p:spPr>
          <a:xfrm>
            <a:off x="1375920" y="3117600"/>
            <a:ext cx="3357000" cy="1415880"/>
          </a:xfrm>
          <a:prstGeom prst="rect">
            <a:avLst/>
          </a:prstGeom>
          <a:noFill/>
          <a:ln w="0">
            <a:noFill/>
          </a:ln>
        </p:spPr>
        <p:txBody>
          <a:bodyPr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sng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Target: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0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→ Customer stayed 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1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→ Customer exited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3"/>
          <p:cNvSpPr txBox="1"/>
          <p:nvPr/>
        </p:nvSpPr>
        <p:spPr>
          <a:xfrm>
            <a:off x="8361000" y="1802880"/>
            <a:ext cx="2566080" cy="3693240"/>
          </a:xfrm>
          <a:prstGeom prst="rect">
            <a:avLst/>
          </a:prstGeom>
          <a:noFill/>
          <a:ln w="0">
            <a:noFill/>
          </a:ln>
        </p:spPr>
        <p:txBody>
          <a:bodyPr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sng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Important features:</a:t>
            </a:r>
            <a:br>
              <a:rPr sz="1800"/>
            </a:b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Credit Score 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Geography 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Gender 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Age 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Tenure 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Balance 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Number of Products 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Credit Card 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Active Member 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Estimated Salary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5"/>
          <p:cNvSpPr txBox="1"/>
          <p:nvPr/>
        </p:nvSpPr>
        <p:spPr>
          <a:xfrm>
            <a:off x="1370880" y="4415760"/>
            <a:ext cx="2743200" cy="166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sng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Dropped columns: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RowNumber 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CustomerId 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Surname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ctangle 2"/>
          <p:cNvSpPr/>
          <p:nvPr/>
        </p:nvSpPr>
        <p:spPr>
          <a:xfrm>
            <a:off x="0" y="6711840"/>
            <a:ext cx="12191400" cy="145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1EAF8"/>
          </a:solidFill>
          <a:ln w="9360">
            <a:solidFill>
              <a:srgbClr val="F1EAF8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8" name="Connector 3"/>
          <p:cNvCxnSpPr/>
          <p:nvPr/>
        </p:nvCxnSpPr>
        <p:spPr>
          <a:xfrm>
            <a:off x="11667600" y="594000"/>
            <a:ext cx="720" cy="412560"/>
          </a:xfrm>
          <a:prstGeom prst="straightConnector1">
            <a:avLst/>
          </a:prstGeom>
          <a:ln w="9360">
            <a:solidFill>
              <a:srgbClr val="7E9A7E"/>
            </a:solidFill>
            <a:round/>
          </a:ln>
        </p:spPr>
      </p:cxnSp>
      <p:sp>
        <p:nvSpPr>
          <p:cNvPr id="139" name="Oval 4"/>
          <p:cNvSpPr/>
          <p:nvPr/>
        </p:nvSpPr>
        <p:spPr>
          <a:xfrm>
            <a:off x="11475720" y="320040"/>
            <a:ext cx="164160" cy="273960"/>
          </a:xfrm>
          <a:custGeom>
            <a:avLst/>
            <a:gdLst>
              <a:gd name="textAreaLeft" fmla="*/ 23760 w 164160"/>
              <a:gd name="textAreaRight" fmla="*/ 140400 w 164160"/>
              <a:gd name="textAreaTop" fmla="*/ 39960 h 273960"/>
              <a:gd name="textAreaBottom" fmla="*/ 234000 h 273960"/>
            </a:gdLst>
            <a:ahLst/>
            <a:cxnLst/>
            <a:rect l="textAreaLeft" t="textAreaTop" r="textAreaRight" b="textAreaBottom"/>
            <a:pathLst>
              <a:path w="21600" h="36016">
                <a:moveTo>
                  <a:pt x="0" y="18008"/>
                </a:moveTo>
                <a:lnTo>
                  <a:pt x="0" y="18008"/>
                </a:lnTo>
                <a:arcTo wR="0" hR="0" stAng="0" swAng="0"/>
                <a:lnTo>
                  <a:pt x="0" y="18008"/>
                </a:lnTo>
                <a:arcTo wR="10800" hR="18008" stAng="-10800000" swAng="21550000"/>
                <a:close/>
              </a:path>
            </a:pathLst>
          </a:custGeom>
          <a:solidFill>
            <a:srgbClr val="704C91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Oval 5"/>
          <p:cNvSpPr/>
          <p:nvPr/>
        </p:nvSpPr>
        <p:spPr>
          <a:xfrm>
            <a:off x="11602080" y="292680"/>
            <a:ext cx="164160" cy="312480"/>
          </a:xfrm>
          <a:custGeom>
            <a:avLst/>
            <a:gdLst>
              <a:gd name="textAreaLeft" fmla="*/ 23760 w 164160"/>
              <a:gd name="textAreaRight" fmla="*/ 140400 w 164160"/>
              <a:gd name="textAreaTop" fmla="*/ 45720 h 312480"/>
              <a:gd name="textAreaBottom" fmla="*/ 266760 h 312480"/>
            </a:gdLst>
            <a:ahLst/>
            <a:cxnLst/>
            <a:rect l="textAreaLeft" t="textAreaTop" r="textAreaRight" b="textAreaBottom"/>
            <a:pathLst>
              <a:path w="21600" h="41073">
                <a:moveTo>
                  <a:pt x="0" y="20537"/>
                </a:moveTo>
                <a:lnTo>
                  <a:pt x="0" y="20537"/>
                </a:lnTo>
                <a:arcTo wR="0" hR="0" stAng="0" swAng="0"/>
                <a:lnTo>
                  <a:pt x="0" y="20537"/>
                </a:lnTo>
                <a:arcTo wR="10800" hR="20537" stAng="-10800000" swAng="21550000"/>
                <a:close/>
              </a:path>
            </a:pathLst>
          </a:custGeom>
          <a:solidFill>
            <a:srgbClr val="704C91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Oval 6"/>
          <p:cNvSpPr/>
          <p:nvPr/>
        </p:nvSpPr>
        <p:spPr>
          <a:xfrm>
            <a:off x="11728080" y="320040"/>
            <a:ext cx="164160" cy="273960"/>
          </a:xfrm>
          <a:custGeom>
            <a:avLst/>
            <a:gdLst>
              <a:gd name="textAreaLeft" fmla="*/ 23760 w 164160"/>
              <a:gd name="textAreaRight" fmla="*/ 140400 w 164160"/>
              <a:gd name="textAreaTop" fmla="*/ 39960 h 273960"/>
              <a:gd name="textAreaBottom" fmla="*/ 234000 h 273960"/>
            </a:gdLst>
            <a:ahLst/>
            <a:cxnLst/>
            <a:rect l="textAreaLeft" t="textAreaTop" r="textAreaRight" b="textAreaBottom"/>
            <a:pathLst>
              <a:path w="21600" h="36016">
                <a:moveTo>
                  <a:pt x="0" y="18008"/>
                </a:moveTo>
                <a:lnTo>
                  <a:pt x="0" y="18008"/>
                </a:lnTo>
                <a:arcTo wR="0" hR="0" stAng="0" swAng="0"/>
                <a:lnTo>
                  <a:pt x="0" y="18008"/>
                </a:lnTo>
                <a:arcTo wR="10800" hR="18008" stAng="-10800000" swAng="21550000"/>
                <a:close/>
              </a:path>
            </a:pathLst>
          </a:custGeom>
          <a:solidFill>
            <a:srgbClr val="704C91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7"/>
          <p:cNvSpPr/>
          <p:nvPr/>
        </p:nvSpPr>
        <p:spPr>
          <a:xfrm>
            <a:off x="594360" y="431640"/>
            <a:ext cx="9143640" cy="5173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>
              <a:lnSpc>
                <a:spcPct val="100000"/>
              </a:lnSpc>
            </a:pPr>
            <a:r>
              <a:rPr lang="en-US" sz="2800" b="1" u="none" strike="noStrike">
                <a:solidFill>
                  <a:srgbClr val="372B43"/>
                </a:solidFill>
                <a:effectLst/>
                <a:uFillTx/>
                <a:latin typeface="Aptos"/>
              </a:rPr>
              <a:t>Data Preprocessing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3" name="Connector 8"/>
          <p:cNvCxnSpPr/>
          <p:nvPr/>
        </p:nvCxnSpPr>
        <p:spPr>
          <a:xfrm>
            <a:off x="594360" y="987480"/>
            <a:ext cx="2286720" cy="720"/>
          </a:xfrm>
          <a:prstGeom prst="straightConnector1">
            <a:avLst/>
          </a:prstGeom>
          <a:ln w="28080">
            <a:solidFill>
              <a:srgbClr val="704C91"/>
            </a:solidFill>
            <a:round/>
          </a:ln>
        </p:spPr>
      </p:cxnSp>
      <p:sp>
        <p:nvSpPr>
          <p:cNvPr id="144" name="TextBox 20"/>
          <p:cNvSpPr/>
          <p:nvPr/>
        </p:nvSpPr>
        <p:spPr>
          <a:xfrm>
            <a:off x="8339400" y="1794240"/>
            <a:ext cx="411120" cy="334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✓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28"/>
          <p:cNvSpPr/>
          <p:nvPr/>
        </p:nvSpPr>
        <p:spPr>
          <a:xfrm>
            <a:off x="4636080" y="3623040"/>
            <a:ext cx="411120" cy="334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✓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32"/>
          <p:cNvSpPr/>
          <p:nvPr/>
        </p:nvSpPr>
        <p:spPr>
          <a:xfrm>
            <a:off x="8339400" y="3623040"/>
            <a:ext cx="411120" cy="334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✓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7" name="Picture 21"/>
          <p:cNvPicPr/>
          <p:nvPr/>
        </p:nvPicPr>
        <p:blipFill>
          <a:blip r:embed="rId1"/>
          <a:stretch/>
        </p:blipFill>
        <p:spPr>
          <a:xfrm>
            <a:off x="5055120" y="4003920"/>
            <a:ext cx="5762520" cy="1438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8" name="Picture 4"/>
          <p:cNvPicPr/>
          <p:nvPr/>
        </p:nvPicPr>
        <p:blipFill>
          <a:blip r:embed="rId2"/>
          <a:srcRect l="23812" t="1790" r="24349" b="-1602"/>
          <a:stretch/>
        </p:blipFill>
        <p:spPr>
          <a:xfrm>
            <a:off x="159480" y="1196280"/>
            <a:ext cx="4474800" cy="5623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9" name="Picture 5"/>
          <p:cNvPicPr/>
          <p:nvPr/>
        </p:nvPicPr>
        <p:blipFill>
          <a:blip r:embed="rId3"/>
          <a:stretch/>
        </p:blipFill>
        <p:spPr>
          <a:xfrm>
            <a:off x="5064480" y="1202400"/>
            <a:ext cx="6404760" cy="2152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Rounded Rectangle 12"/>
          <p:cNvSpPr/>
          <p:nvPr/>
        </p:nvSpPr>
        <p:spPr>
          <a:xfrm>
            <a:off x="5057640" y="807840"/>
            <a:ext cx="4570560" cy="336600"/>
          </a:xfrm>
          <a:custGeom>
            <a:avLst/>
            <a:gdLst>
              <a:gd name="textAreaLeft" fmla="*/ 16200 w 4570560"/>
              <a:gd name="textAreaRight" fmla="*/ 4554360 w 4570560"/>
              <a:gd name="textAreaTop" fmla="*/ 16200 h 336600"/>
              <a:gd name="textAreaBottom" fmla="*/ 320400 h 336600"/>
            </a:gdLst>
            <a:ahLst/>
            <a:cxnLst/>
            <a:rect l="textAreaLeft" t="textAreaTop" r="textAreaRight" b="textAreaBottom"/>
            <a:pathLst>
              <a:path w="293008" h="21600">
                <a:moveTo>
                  <a:pt x="3600" y="0"/>
                </a:moveTo>
                <a:arcTo wR="3600" hR="3600" stAng="16200000" swAng="-5400000"/>
                <a:lnTo>
                  <a:pt x="0" y="18000"/>
                </a:lnTo>
                <a:arcTo wR="3600" hR="3600" stAng="10800000" swAng="-5400000"/>
                <a:lnTo>
                  <a:pt x="289408" y="21600"/>
                </a:lnTo>
                <a:arcTo wR="3600" hR="3600" stAng="5400000" swAng="-5400000"/>
                <a:lnTo>
                  <a:pt x="293008" y="3600"/>
                </a:lnTo>
                <a:arcTo wR="3600" hR="3600" stAng="0" swAng="-5400000"/>
                <a:close/>
              </a:path>
            </a:pathLst>
          </a:custGeom>
          <a:solidFill>
            <a:srgbClr val="F1EAF8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7"/>
          <p:cNvSpPr txBox="1"/>
          <p:nvPr/>
        </p:nvSpPr>
        <p:spPr>
          <a:xfrm>
            <a:off x="5160960" y="804960"/>
            <a:ext cx="3975840" cy="338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Original Dataset — Before Data Cleaning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Rounded Rectangle 12"/>
          <p:cNvSpPr/>
          <p:nvPr/>
        </p:nvSpPr>
        <p:spPr>
          <a:xfrm>
            <a:off x="5057640" y="3582720"/>
            <a:ext cx="4469760" cy="336600"/>
          </a:xfrm>
          <a:custGeom>
            <a:avLst/>
            <a:gdLst>
              <a:gd name="textAreaLeft" fmla="*/ 16200 w 4469760"/>
              <a:gd name="textAreaRight" fmla="*/ 4453560 w 4469760"/>
              <a:gd name="textAreaTop" fmla="*/ 16200 h 336600"/>
              <a:gd name="textAreaBottom" fmla="*/ 320400 h 336600"/>
            </a:gdLst>
            <a:ahLst/>
            <a:cxnLst/>
            <a:rect l="textAreaLeft" t="textAreaTop" r="textAreaRight" b="textAreaBottom"/>
            <a:pathLst>
              <a:path w="286546" h="21600">
                <a:moveTo>
                  <a:pt x="3600" y="0"/>
                </a:moveTo>
                <a:arcTo wR="3600" hR="3600" stAng="16200000" swAng="-5400000"/>
                <a:lnTo>
                  <a:pt x="0" y="18000"/>
                </a:lnTo>
                <a:arcTo wR="3600" hR="3600" stAng="10800000" swAng="-5400000"/>
                <a:lnTo>
                  <a:pt x="282946" y="21600"/>
                </a:lnTo>
                <a:arcTo wR="3600" hR="3600" stAng="5400000" swAng="-5400000"/>
                <a:lnTo>
                  <a:pt x="286546" y="3600"/>
                </a:lnTo>
                <a:arcTo wR="3600" hR="3600" stAng="0" swAng="-5400000"/>
                <a:close/>
              </a:path>
            </a:pathLst>
          </a:custGeom>
          <a:solidFill>
            <a:srgbClr val="F1EAF8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9"/>
          <p:cNvSpPr txBox="1"/>
          <p:nvPr/>
        </p:nvSpPr>
        <p:spPr>
          <a:xfrm>
            <a:off x="5160960" y="3579840"/>
            <a:ext cx="4479120" cy="338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ColumnTransformer — Feature Preprocessing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Rounded Rectangle 12"/>
          <p:cNvSpPr/>
          <p:nvPr/>
        </p:nvSpPr>
        <p:spPr>
          <a:xfrm>
            <a:off x="5057640" y="5695920"/>
            <a:ext cx="6410880" cy="423000"/>
          </a:xfrm>
          <a:custGeom>
            <a:avLst/>
            <a:gdLst>
              <a:gd name="textAreaLeft" fmla="*/ 20520 w 6410880"/>
              <a:gd name="textAreaRight" fmla="*/ 6390360 w 6410880"/>
              <a:gd name="textAreaTop" fmla="*/ 20520 h 423000"/>
              <a:gd name="textAreaBottom" fmla="*/ 402480 h 423000"/>
            </a:gdLst>
            <a:ahLst/>
            <a:cxnLst/>
            <a:rect l="textAreaLeft" t="textAreaTop" r="textAreaRight" b="textAreaBottom"/>
            <a:pathLst>
              <a:path w="327104" h="21600">
                <a:moveTo>
                  <a:pt x="3600" y="0"/>
                </a:moveTo>
                <a:arcTo wR="3600" hR="3600" stAng="16200000" swAng="-5400000"/>
                <a:lnTo>
                  <a:pt x="0" y="18000"/>
                </a:lnTo>
                <a:arcTo wR="3600" hR="3600" stAng="10800000" swAng="-5400000"/>
                <a:lnTo>
                  <a:pt x="323504" y="21600"/>
                </a:lnTo>
                <a:arcTo wR="3600" hR="3600" stAng="5400000" swAng="-5400000"/>
                <a:lnTo>
                  <a:pt x="327104" y="3600"/>
                </a:lnTo>
                <a:arcTo wR="3600" hR="3600" stAng="0" swAng="-5400000"/>
                <a:close/>
              </a:path>
            </a:pathLst>
          </a:custGeom>
          <a:solidFill>
            <a:srgbClr val="F1EAF8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12"/>
          <p:cNvSpPr txBox="1"/>
          <p:nvPr/>
        </p:nvSpPr>
        <p:spPr>
          <a:xfrm>
            <a:off x="5060160" y="5765040"/>
            <a:ext cx="6419880" cy="307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Goal: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Convert raw customer data into a clean format suitable for machine learning.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Rectangle 1"/>
          <p:cNvSpPr/>
          <p:nvPr/>
        </p:nvSpPr>
        <p:spPr>
          <a:xfrm>
            <a:off x="0" y="0"/>
            <a:ext cx="12191400" cy="145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E1D2F2"/>
          </a:solidFill>
          <a:ln w="9360">
            <a:solidFill>
              <a:srgbClr val="E1D2F2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Rectangle 2"/>
          <p:cNvSpPr/>
          <p:nvPr/>
        </p:nvSpPr>
        <p:spPr>
          <a:xfrm>
            <a:off x="0" y="6711840"/>
            <a:ext cx="12191400" cy="145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1EAF8"/>
          </a:solidFill>
          <a:ln w="9360">
            <a:solidFill>
              <a:srgbClr val="F1EAF8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7"/>
          <p:cNvSpPr/>
          <p:nvPr/>
        </p:nvSpPr>
        <p:spPr>
          <a:xfrm>
            <a:off x="137160" y="406080"/>
            <a:ext cx="8045640" cy="5173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>
              <a:lnSpc>
                <a:spcPct val="100000"/>
              </a:lnSpc>
            </a:pPr>
            <a:r>
              <a:rPr lang="en-US" sz="2800" b="1" u="none" strike="noStrike">
                <a:solidFill>
                  <a:srgbClr val="372B43"/>
                </a:solidFill>
                <a:effectLst/>
                <a:uFillTx/>
                <a:latin typeface="Aptos"/>
              </a:rPr>
              <a:t>Exploratory Data Analysis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9" name="Connector 8"/>
          <p:cNvCxnSpPr/>
          <p:nvPr/>
        </p:nvCxnSpPr>
        <p:spPr>
          <a:xfrm>
            <a:off x="594360" y="987480"/>
            <a:ext cx="2286720" cy="720"/>
          </a:xfrm>
          <a:prstGeom prst="straightConnector1">
            <a:avLst/>
          </a:prstGeom>
          <a:ln w="28080">
            <a:solidFill>
              <a:srgbClr val="704C91"/>
            </a:solidFill>
            <a:round/>
          </a:ln>
        </p:spPr>
      </p:cxnSp>
      <p:sp>
        <p:nvSpPr>
          <p:cNvPr id="160" name="TextBox 1"/>
          <p:cNvSpPr txBox="1"/>
          <p:nvPr/>
        </p:nvSpPr>
        <p:spPr>
          <a:xfrm>
            <a:off x="242280" y="1366200"/>
            <a:ext cx="4915440" cy="5693760"/>
          </a:xfrm>
          <a:prstGeom prst="rect">
            <a:avLst/>
          </a:prstGeom>
          <a:noFill/>
          <a:ln w="0">
            <a:noFill/>
          </a:ln>
        </p:spPr>
        <p:txBody>
          <a:bodyPr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EDA was performed to understand the data and discover patterns related to churn.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Univariate Analysis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Analyzed individual variables to understand their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distributions.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Histograms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were used for numerical features.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Count plots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were used for categorical and binary features.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Examined the distribution of the target variable </a:t>
            </a: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Exited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.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Bivariate Analysis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Analyzed the relationship between individual features and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customer churn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.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Box plots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were used for numerical features against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alibri"/>
              </a:rPr>
              <a:t>Exited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.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Count plots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were used for categorical and binary features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against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alibri"/>
              </a:rPr>
              <a:t>Exited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.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Multivariate Analysis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Analyzed relationships among multiple numerical features.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 </a:t>
            </a: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correlation heatmap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was used to identify feature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relationships and possible patterns.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Rectangle 2"/>
          <p:cNvSpPr/>
          <p:nvPr/>
        </p:nvSpPr>
        <p:spPr>
          <a:xfrm>
            <a:off x="239040" y="1302480"/>
            <a:ext cx="4939920" cy="5382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25560">
            <a:solidFill>
              <a:srgbClr val="B3A2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2" name="Picture 3"/>
          <p:cNvPicPr/>
          <p:nvPr/>
        </p:nvPicPr>
        <p:blipFill>
          <a:blip r:embed="rId1"/>
          <a:stretch/>
        </p:blipFill>
        <p:spPr>
          <a:xfrm>
            <a:off x="5369760" y="684360"/>
            <a:ext cx="2717640" cy="2628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3" name="Picture 5"/>
          <p:cNvPicPr/>
          <p:nvPr/>
        </p:nvPicPr>
        <p:blipFill>
          <a:blip r:embed="rId2"/>
          <a:srcRect l="722" t="-1148" r="-929" b="1513"/>
          <a:stretch/>
        </p:blipFill>
        <p:spPr>
          <a:xfrm>
            <a:off x="8261640" y="313920"/>
            <a:ext cx="3681360" cy="3683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4" name="Picture 4"/>
          <p:cNvPicPr/>
          <p:nvPr/>
        </p:nvPicPr>
        <p:blipFill>
          <a:blip r:embed="rId3"/>
          <a:stretch/>
        </p:blipFill>
        <p:spPr>
          <a:xfrm>
            <a:off x="5789160" y="4218840"/>
            <a:ext cx="5875920" cy="2316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5" name="Rectangle 9"/>
          <p:cNvSpPr/>
          <p:nvPr/>
        </p:nvSpPr>
        <p:spPr>
          <a:xfrm>
            <a:off x="5338080" y="308520"/>
            <a:ext cx="2766960" cy="3786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25560">
            <a:solidFill>
              <a:srgbClr val="604A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6" name="Straight Arrow Connector 10"/>
          <p:cNvCxnSpPr/>
          <p:nvPr/>
        </p:nvCxnSpPr>
        <p:spPr>
          <a:xfrm flipH="1">
            <a:off x="8186760" y="688320"/>
            <a:ext cx="142920" cy="3416760"/>
          </a:xfrm>
          <a:prstGeom prst="straightConnector1">
            <a:avLst/>
          </a:prstGeom>
          <a:ln w="0">
            <a:noFill/>
          </a:ln>
        </p:spPr>
      </p:cxnSp>
      <p:cxnSp>
        <p:nvCxnSpPr>
          <p:cNvPr id="167" name="Straight Arrow Connector 11"/>
          <p:cNvCxnSpPr/>
          <p:nvPr/>
        </p:nvCxnSpPr>
        <p:spPr>
          <a:xfrm>
            <a:off x="8128080" y="403560"/>
            <a:ext cx="45000" cy="3825000"/>
          </a:xfrm>
          <a:prstGeom prst="straightConnector1">
            <a:avLst/>
          </a:prstGeom>
          <a:ln w="0">
            <a:noFill/>
          </a:ln>
        </p:spPr>
      </p:cxnSp>
      <p:sp>
        <p:nvSpPr>
          <p:cNvPr id="168" name="Rectangle 12"/>
          <p:cNvSpPr/>
          <p:nvPr/>
        </p:nvSpPr>
        <p:spPr>
          <a:xfrm>
            <a:off x="5334120" y="4213440"/>
            <a:ext cx="6738480" cy="2405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25560">
            <a:solidFill>
              <a:srgbClr val="604A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9" name="Straight Arrow Connector 13"/>
          <p:cNvCxnSpPr/>
          <p:nvPr/>
        </p:nvCxnSpPr>
        <p:spPr>
          <a:xfrm>
            <a:off x="8171640" y="688320"/>
            <a:ext cx="1440" cy="3420720"/>
          </a:xfrm>
          <a:prstGeom prst="straightConnector1">
            <a:avLst/>
          </a:prstGeom>
          <a:ln w="0">
            <a:noFill/>
          </a:ln>
        </p:spPr>
      </p:cxnSp>
      <p:cxnSp>
        <p:nvCxnSpPr>
          <p:cNvPr id="170" name="Straight Arrow Connector 14"/>
          <p:cNvCxnSpPr/>
          <p:nvPr/>
        </p:nvCxnSpPr>
        <p:spPr>
          <a:xfrm>
            <a:off x="8475480" y="966240"/>
            <a:ext cx="15840" cy="75240"/>
          </a:xfrm>
          <a:prstGeom prst="straightConnector1">
            <a:avLst/>
          </a:prstGeom>
          <a:ln w="0">
            <a:noFill/>
          </a:ln>
        </p:spPr>
      </p:cxnSp>
      <p:cxnSp>
        <p:nvCxnSpPr>
          <p:cNvPr id="171" name="Straight Arrow Connector 15"/>
          <p:cNvCxnSpPr/>
          <p:nvPr/>
        </p:nvCxnSpPr>
        <p:spPr>
          <a:xfrm>
            <a:off x="8172720" y="298800"/>
            <a:ext cx="15840" cy="3780360"/>
          </a:xfrm>
          <a:prstGeom prst="straightConnector1">
            <a:avLst/>
          </a:prstGeom>
          <a:ln w="0">
            <a:noFill/>
          </a:ln>
        </p:spPr>
      </p:cxnSp>
      <p:cxnSp>
        <p:nvCxnSpPr>
          <p:cNvPr id="172" name="Straight Arrow Connector 16"/>
          <p:cNvCxnSpPr/>
          <p:nvPr/>
        </p:nvCxnSpPr>
        <p:spPr>
          <a:xfrm flipH="1">
            <a:off x="4184280" y="2557080"/>
            <a:ext cx="27720" cy="2388960"/>
          </a:xfrm>
          <a:prstGeom prst="straightConnector1">
            <a:avLst/>
          </a:prstGeom>
          <a:ln w="0">
            <a:noFill/>
          </a:ln>
        </p:spPr>
      </p:cxnSp>
      <p:sp>
        <p:nvSpPr>
          <p:cNvPr id="173" name="Rectangle 18"/>
          <p:cNvSpPr/>
          <p:nvPr/>
        </p:nvSpPr>
        <p:spPr>
          <a:xfrm>
            <a:off x="8170200" y="294120"/>
            <a:ext cx="3902760" cy="3800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25560">
            <a:solidFill>
              <a:srgbClr val="604A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Rectangle 1"/>
          <p:cNvSpPr/>
          <p:nvPr/>
        </p:nvSpPr>
        <p:spPr>
          <a:xfrm>
            <a:off x="0" y="0"/>
            <a:ext cx="12191400" cy="145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E1D2F2"/>
          </a:solidFill>
          <a:ln w="9360">
            <a:solidFill>
              <a:srgbClr val="E1D2F2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Rectangle 2"/>
          <p:cNvSpPr/>
          <p:nvPr/>
        </p:nvSpPr>
        <p:spPr>
          <a:xfrm>
            <a:off x="0" y="6711840"/>
            <a:ext cx="12191400" cy="145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1EAF8"/>
          </a:solidFill>
          <a:ln w="9360">
            <a:solidFill>
              <a:srgbClr val="F1EAF8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76" name="Connector 3"/>
          <p:cNvCxnSpPr/>
          <p:nvPr/>
        </p:nvCxnSpPr>
        <p:spPr>
          <a:xfrm>
            <a:off x="11667600" y="594000"/>
            <a:ext cx="720" cy="412560"/>
          </a:xfrm>
          <a:prstGeom prst="straightConnector1">
            <a:avLst/>
          </a:prstGeom>
          <a:ln w="9360">
            <a:solidFill>
              <a:srgbClr val="7E9A7E"/>
            </a:solidFill>
            <a:round/>
          </a:ln>
        </p:spPr>
      </p:cxnSp>
      <p:sp>
        <p:nvSpPr>
          <p:cNvPr id="177" name="Oval 4"/>
          <p:cNvSpPr/>
          <p:nvPr/>
        </p:nvSpPr>
        <p:spPr>
          <a:xfrm>
            <a:off x="11475720" y="320040"/>
            <a:ext cx="164160" cy="273960"/>
          </a:xfrm>
          <a:custGeom>
            <a:avLst/>
            <a:gdLst>
              <a:gd name="textAreaLeft" fmla="*/ 23760 w 164160"/>
              <a:gd name="textAreaRight" fmla="*/ 140400 w 164160"/>
              <a:gd name="textAreaTop" fmla="*/ 39960 h 273960"/>
              <a:gd name="textAreaBottom" fmla="*/ 234000 h 273960"/>
            </a:gdLst>
            <a:ahLst/>
            <a:cxnLst/>
            <a:rect l="textAreaLeft" t="textAreaTop" r="textAreaRight" b="textAreaBottom"/>
            <a:pathLst>
              <a:path w="21600" h="36016">
                <a:moveTo>
                  <a:pt x="0" y="18008"/>
                </a:moveTo>
                <a:lnTo>
                  <a:pt x="0" y="18008"/>
                </a:lnTo>
                <a:arcTo wR="0" hR="0" stAng="0" swAng="0"/>
                <a:lnTo>
                  <a:pt x="0" y="18008"/>
                </a:lnTo>
                <a:arcTo wR="10800" hR="18008" stAng="-10800000" swAng="21550000"/>
                <a:close/>
              </a:path>
            </a:pathLst>
          </a:custGeom>
          <a:solidFill>
            <a:srgbClr val="704C91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Oval 5"/>
          <p:cNvSpPr/>
          <p:nvPr/>
        </p:nvSpPr>
        <p:spPr>
          <a:xfrm>
            <a:off x="11602080" y="292680"/>
            <a:ext cx="164160" cy="312480"/>
          </a:xfrm>
          <a:custGeom>
            <a:avLst/>
            <a:gdLst>
              <a:gd name="textAreaLeft" fmla="*/ 23760 w 164160"/>
              <a:gd name="textAreaRight" fmla="*/ 140400 w 164160"/>
              <a:gd name="textAreaTop" fmla="*/ 45720 h 312480"/>
              <a:gd name="textAreaBottom" fmla="*/ 266760 h 312480"/>
            </a:gdLst>
            <a:ahLst/>
            <a:cxnLst/>
            <a:rect l="textAreaLeft" t="textAreaTop" r="textAreaRight" b="textAreaBottom"/>
            <a:pathLst>
              <a:path w="21600" h="41073">
                <a:moveTo>
                  <a:pt x="0" y="20537"/>
                </a:moveTo>
                <a:lnTo>
                  <a:pt x="0" y="20537"/>
                </a:lnTo>
                <a:arcTo wR="0" hR="0" stAng="0" swAng="0"/>
                <a:lnTo>
                  <a:pt x="0" y="20537"/>
                </a:lnTo>
                <a:arcTo wR="10800" hR="20537" stAng="-10800000" swAng="21550000"/>
                <a:close/>
              </a:path>
            </a:pathLst>
          </a:custGeom>
          <a:solidFill>
            <a:srgbClr val="704C91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Oval 6"/>
          <p:cNvSpPr/>
          <p:nvPr/>
        </p:nvSpPr>
        <p:spPr>
          <a:xfrm>
            <a:off x="11728080" y="320040"/>
            <a:ext cx="164160" cy="273960"/>
          </a:xfrm>
          <a:custGeom>
            <a:avLst/>
            <a:gdLst>
              <a:gd name="textAreaLeft" fmla="*/ 23760 w 164160"/>
              <a:gd name="textAreaRight" fmla="*/ 140400 w 164160"/>
              <a:gd name="textAreaTop" fmla="*/ 39960 h 273960"/>
              <a:gd name="textAreaBottom" fmla="*/ 234000 h 273960"/>
            </a:gdLst>
            <a:ahLst/>
            <a:cxnLst/>
            <a:rect l="textAreaLeft" t="textAreaTop" r="textAreaRight" b="textAreaBottom"/>
            <a:pathLst>
              <a:path w="21600" h="36016">
                <a:moveTo>
                  <a:pt x="0" y="18008"/>
                </a:moveTo>
                <a:lnTo>
                  <a:pt x="0" y="18008"/>
                </a:lnTo>
                <a:arcTo wR="0" hR="0" stAng="0" swAng="0"/>
                <a:lnTo>
                  <a:pt x="0" y="18008"/>
                </a:lnTo>
                <a:arcTo wR="10800" hR="18008" stAng="-10800000" swAng="21550000"/>
                <a:close/>
              </a:path>
            </a:pathLst>
          </a:custGeom>
          <a:solidFill>
            <a:srgbClr val="704C91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Box 7"/>
          <p:cNvSpPr/>
          <p:nvPr/>
        </p:nvSpPr>
        <p:spPr>
          <a:xfrm>
            <a:off x="594360" y="431640"/>
            <a:ext cx="9143640" cy="5173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>
              <a:lnSpc>
                <a:spcPct val="100000"/>
              </a:lnSpc>
            </a:pPr>
            <a:r>
              <a:rPr lang="en-US" sz="2800" b="1" u="none" strike="noStrike">
                <a:solidFill>
                  <a:srgbClr val="372B43"/>
                </a:solidFill>
                <a:effectLst/>
                <a:uFillTx/>
                <a:latin typeface="Aptos"/>
              </a:rPr>
              <a:t>Model Building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81" name="Connector 8"/>
          <p:cNvCxnSpPr/>
          <p:nvPr/>
        </p:nvCxnSpPr>
        <p:spPr>
          <a:xfrm>
            <a:off x="594360" y="987480"/>
            <a:ext cx="2286720" cy="720"/>
          </a:xfrm>
          <a:prstGeom prst="straightConnector1">
            <a:avLst/>
          </a:prstGeom>
          <a:ln w="28080">
            <a:solidFill>
              <a:srgbClr val="704C91"/>
            </a:solidFill>
            <a:round/>
          </a:ln>
        </p:spPr>
      </p:cxnSp>
      <p:sp>
        <p:nvSpPr>
          <p:cNvPr id="182" name="Rounded Rectangle 10"/>
          <p:cNvSpPr/>
          <p:nvPr/>
        </p:nvSpPr>
        <p:spPr>
          <a:xfrm>
            <a:off x="777240" y="1417320"/>
            <a:ext cx="10606680" cy="822600"/>
          </a:xfrm>
          <a:custGeom>
            <a:avLst/>
            <a:gdLst>
              <a:gd name="textAreaLeft" fmla="*/ 39960 w 10606680"/>
              <a:gd name="textAreaRight" fmla="*/ 10566720 w 10606680"/>
              <a:gd name="textAreaTop" fmla="*/ 39960 h 822600"/>
              <a:gd name="textAreaBottom" fmla="*/ 782640 h 822600"/>
            </a:gdLst>
            <a:ahLst/>
            <a:cxnLst/>
            <a:rect l="textAreaLeft" t="textAreaTop" r="textAreaRight" b="textAreaBottom"/>
            <a:pathLst>
              <a:path w="278400" h="21600">
                <a:moveTo>
                  <a:pt x="3600" y="0"/>
                </a:moveTo>
                <a:arcTo wR="3600" hR="3600" stAng="16200000" swAng="-5400000"/>
                <a:lnTo>
                  <a:pt x="0" y="18000"/>
                </a:lnTo>
                <a:arcTo wR="3600" hR="3600" stAng="10800000" swAng="-5400000"/>
                <a:lnTo>
                  <a:pt x="274800" y="21600"/>
                </a:lnTo>
                <a:arcTo wR="3600" hR="3600" stAng="5400000" swAng="-5400000"/>
                <a:lnTo>
                  <a:pt x="278400" y="3600"/>
                </a:lnTo>
                <a:arcTo wR="3600" hR="3600" stAng="0" swAng="-5400000"/>
                <a:close/>
              </a:path>
            </a:pathLst>
          </a:custGeom>
          <a:solidFill>
            <a:srgbClr val="F1EAF8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11"/>
          <p:cNvSpPr/>
          <p:nvPr/>
        </p:nvSpPr>
        <p:spPr>
          <a:xfrm>
            <a:off x="1051560" y="1605240"/>
            <a:ext cx="594000" cy="3189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704C91"/>
                </a:solidFill>
                <a:effectLst/>
                <a:uFillTx/>
                <a:latin typeface="Aptos"/>
              </a:rPr>
              <a:t>01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Box 12"/>
          <p:cNvSpPr/>
          <p:nvPr/>
        </p:nvSpPr>
        <p:spPr>
          <a:xfrm>
            <a:off x="1828800" y="1600560"/>
            <a:ext cx="4480200" cy="3646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372B43"/>
                </a:solidFill>
                <a:effectLst/>
                <a:uFillTx/>
                <a:latin typeface="Aptos"/>
              </a:rPr>
              <a:t>Logistic Regression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13"/>
          <p:cNvSpPr/>
          <p:nvPr/>
        </p:nvSpPr>
        <p:spPr>
          <a:xfrm>
            <a:off x="6583680" y="1627920"/>
            <a:ext cx="4023000" cy="273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r">
              <a:lnSpc>
                <a:spcPct val="100000"/>
              </a:lnSpc>
            </a:pPr>
            <a:r>
              <a:rPr lang="en-US" sz="1200" b="0" u="none" strike="noStrike">
                <a:solidFill>
                  <a:srgbClr val="372B43"/>
                </a:solidFill>
                <a:effectLst/>
                <a:uFillTx/>
                <a:latin typeface="Aptos"/>
              </a:rPr>
              <a:t>Baseline classifier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Rounded Rectangle 14"/>
          <p:cNvSpPr/>
          <p:nvPr/>
        </p:nvSpPr>
        <p:spPr>
          <a:xfrm>
            <a:off x="777240" y="2514600"/>
            <a:ext cx="10606680" cy="822600"/>
          </a:xfrm>
          <a:custGeom>
            <a:avLst/>
            <a:gdLst>
              <a:gd name="textAreaLeft" fmla="*/ 39960 w 10606680"/>
              <a:gd name="textAreaRight" fmla="*/ 10566720 w 10606680"/>
              <a:gd name="textAreaTop" fmla="*/ 39960 h 822600"/>
              <a:gd name="textAreaBottom" fmla="*/ 782640 h 822600"/>
            </a:gdLst>
            <a:ahLst/>
            <a:cxnLst/>
            <a:rect l="textAreaLeft" t="textAreaTop" r="textAreaRight" b="textAreaBottom"/>
            <a:pathLst>
              <a:path w="278400" h="21600">
                <a:moveTo>
                  <a:pt x="3600" y="0"/>
                </a:moveTo>
                <a:arcTo wR="3600" hR="3600" stAng="16200000" swAng="-5400000"/>
                <a:lnTo>
                  <a:pt x="0" y="18000"/>
                </a:lnTo>
                <a:arcTo wR="3600" hR="3600" stAng="10800000" swAng="-5400000"/>
                <a:lnTo>
                  <a:pt x="274800" y="21600"/>
                </a:lnTo>
                <a:arcTo wR="3600" hR="3600" stAng="5400000" swAng="-5400000"/>
                <a:lnTo>
                  <a:pt x="278400" y="3600"/>
                </a:lnTo>
                <a:arcTo wR="3600" hR="3600" stAng="0" swAng="-5400000"/>
                <a:close/>
              </a:path>
            </a:pathLst>
          </a:custGeom>
          <a:solidFill>
            <a:srgbClr val="F1EAF8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15"/>
          <p:cNvSpPr/>
          <p:nvPr/>
        </p:nvSpPr>
        <p:spPr>
          <a:xfrm>
            <a:off x="1051560" y="2702520"/>
            <a:ext cx="594000" cy="3189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704C91"/>
                </a:solidFill>
                <a:effectLst/>
                <a:uFillTx/>
                <a:latin typeface="Aptos"/>
              </a:rPr>
              <a:t>02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16"/>
          <p:cNvSpPr/>
          <p:nvPr/>
        </p:nvSpPr>
        <p:spPr>
          <a:xfrm>
            <a:off x="1828800" y="2697840"/>
            <a:ext cx="4480200" cy="3646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372B43"/>
                </a:solidFill>
                <a:effectLst/>
                <a:uFillTx/>
                <a:latin typeface="Aptos"/>
              </a:rPr>
              <a:t>Decision Tree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17"/>
          <p:cNvSpPr/>
          <p:nvPr/>
        </p:nvSpPr>
        <p:spPr>
          <a:xfrm>
            <a:off x="6583680" y="2725200"/>
            <a:ext cx="4023000" cy="273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r">
              <a:lnSpc>
                <a:spcPct val="100000"/>
              </a:lnSpc>
            </a:pPr>
            <a:r>
              <a:rPr lang="en-US" sz="1200" b="0" u="none" strike="noStrike">
                <a:solidFill>
                  <a:srgbClr val="372B43"/>
                </a:solidFill>
                <a:effectLst/>
                <a:uFillTx/>
                <a:latin typeface="Aptos"/>
              </a:rPr>
              <a:t>Non-linear tree model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Rounded Rectangle 18"/>
          <p:cNvSpPr/>
          <p:nvPr/>
        </p:nvSpPr>
        <p:spPr>
          <a:xfrm>
            <a:off x="777240" y="3611880"/>
            <a:ext cx="10606680" cy="822600"/>
          </a:xfrm>
          <a:custGeom>
            <a:avLst/>
            <a:gdLst>
              <a:gd name="textAreaLeft" fmla="*/ 39960 w 10606680"/>
              <a:gd name="textAreaRight" fmla="*/ 10566720 w 10606680"/>
              <a:gd name="textAreaTop" fmla="*/ 39960 h 822600"/>
              <a:gd name="textAreaBottom" fmla="*/ 782640 h 822600"/>
            </a:gdLst>
            <a:ahLst/>
            <a:cxnLst/>
            <a:rect l="textAreaLeft" t="textAreaTop" r="textAreaRight" b="textAreaBottom"/>
            <a:pathLst>
              <a:path w="278400" h="21600">
                <a:moveTo>
                  <a:pt x="3600" y="0"/>
                </a:moveTo>
                <a:arcTo wR="3600" hR="3600" stAng="16200000" swAng="-5400000"/>
                <a:lnTo>
                  <a:pt x="0" y="18000"/>
                </a:lnTo>
                <a:arcTo wR="3600" hR="3600" stAng="10800000" swAng="-5400000"/>
                <a:lnTo>
                  <a:pt x="274800" y="21600"/>
                </a:lnTo>
                <a:arcTo wR="3600" hR="3600" stAng="5400000" swAng="-5400000"/>
                <a:lnTo>
                  <a:pt x="278400" y="3600"/>
                </a:lnTo>
                <a:arcTo wR="3600" hR="3600" stAng="0" swAng="-5400000"/>
                <a:close/>
              </a:path>
            </a:pathLst>
          </a:custGeom>
          <a:solidFill>
            <a:srgbClr val="E1D2F2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19"/>
          <p:cNvSpPr/>
          <p:nvPr/>
        </p:nvSpPr>
        <p:spPr>
          <a:xfrm>
            <a:off x="1051560" y="3799800"/>
            <a:ext cx="594000" cy="3189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704C91"/>
                </a:solidFill>
                <a:effectLst/>
                <a:uFillTx/>
                <a:latin typeface="Aptos"/>
              </a:rPr>
              <a:t>03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Box 20"/>
          <p:cNvSpPr/>
          <p:nvPr/>
        </p:nvSpPr>
        <p:spPr>
          <a:xfrm>
            <a:off x="1828800" y="3795120"/>
            <a:ext cx="4480200" cy="3646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372B43"/>
                </a:solidFill>
                <a:effectLst/>
                <a:uFillTx/>
                <a:latin typeface="Aptos"/>
              </a:rPr>
              <a:t>Random Forest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Box 21"/>
          <p:cNvSpPr/>
          <p:nvPr/>
        </p:nvSpPr>
        <p:spPr>
          <a:xfrm>
            <a:off x="6583680" y="3822480"/>
            <a:ext cx="4023000" cy="273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r">
              <a:lnSpc>
                <a:spcPct val="100000"/>
              </a:lnSpc>
            </a:pPr>
            <a:r>
              <a:rPr lang="en-US" sz="1200" b="0" u="none" strike="noStrike">
                <a:solidFill>
                  <a:srgbClr val="372B43"/>
                </a:solidFill>
                <a:effectLst/>
                <a:uFillTx/>
                <a:latin typeface="Aptos"/>
              </a:rPr>
              <a:t>Ensemble model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Rounded Rectangle 22"/>
          <p:cNvSpPr/>
          <p:nvPr/>
        </p:nvSpPr>
        <p:spPr>
          <a:xfrm>
            <a:off x="777240" y="4709160"/>
            <a:ext cx="10606680" cy="822600"/>
          </a:xfrm>
          <a:custGeom>
            <a:avLst/>
            <a:gdLst>
              <a:gd name="textAreaLeft" fmla="*/ 39960 w 10606680"/>
              <a:gd name="textAreaRight" fmla="*/ 10566720 w 10606680"/>
              <a:gd name="textAreaTop" fmla="*/ 39960 h 822600"/>
              <a:gd name="textAreaBottom" fmla="*/ 782640 h 822600"/>
            </a:gdLst>
            <a:ahLst/>
            <a:cxnLst/>
            <a:rect l="textAreaLeft" t="textAreaTop" r="textAreaRight" b="textAreaBottom"/>
            <a:pathLst>
              <a:path w="278400" h="21600">
                <a:moveTo>
                  <a:pt x="3600" y="0"/>
                </a:moveTo>
                <a:arcTo wR="3600" hR="3600" stAng="16200000" swAng="-5400000"/>
                <a:lnTo>
                  <a:pt x="0" y="18000"/>
                </a:lnTo>
                <a:arcTo wR="3600" hR="3600" stAng="10800000" swAng="-5400000"/>
                <a:lnTo>
                  <a:pt x="274800" y="21600"/>
                </a:lnTo>
                <a:arcTo wR="3600" hR="3600" stAng="5400000" swAng="-5400000"/>
                <a:lnTo>
                  <a:pt x="278400" y="3600"/>
                </a:lnTo>
                <a:arcTo wR="3600" hR="3600" stAng="0" swAng="-5400000"/>
                <a:close/>
              </a:path>
            </a:pathLst>
          </a:custGeom>
          <a:solidFill>
            <a:srgbClr val="F1EAF8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23"/>
          <p:cNvSpPr/>
          <p:nvPr/>
        </p:nvSpPr>
        <p:spPr>
          <a:xfrm>
            <a:off x="1051560" y="4897080"/>
            <a:ext cx="594000" cy="3189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704C91"/>
                </a:solidFill>
                <a:effectLst/>
                <a:uFillTx/>
                <a:latin typeface="Aptos"/>
              </a:rPr>
              <a:t>04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Box 24"/>
          <p:cNvSpPr/>
          <p:nvPr/>
        </p:nvSpPr>
        <p:spPr>
          <a:xfrm>
            <a:off x="1828800" y="4892400"/>
            <a:ext cx="4480200" cy="3646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372B43"/>
                </a:solidFill>
                <a:effectLst/>
                <a:uFillTx/>
                <a:latin typeface="Aptos"/>
              </a:rPr>
              <a:t>Tuned Random Forest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Box 25"/>
          <p:cNvSpPr/>
          <p:nvPr/>
        </p:nvSpPr>
        <p:spPr>
          <a:xfrm>
            <a:off x="6583680" y="4919760"/>
            <a:ext cx="4023000" cy="273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r">
              <a:lnSpc>
                <a:spcPct val="100000"/>
              </a:lnSpc>
            </a:pPr>
            <a:r>
              <a:rPr lang="en-US" sz="1200" b="0" u="none" strike="noStrike">
                <a:solidFill>
                  <a:srgbClr val="372B43"/>
                </a:solidFill>
                <a:effectLst/>
                <a:uFillTx/>
                <a:latin typeface="Aptos"/>
              </a:rPr>
              <a:t>Optimized final model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Rectangle 1"/>
          <p:cNvSpPr/>
          <p:nvPr/>
        </p:nvSpPr>
        <p:spPr>
          <a:xfrm>
            <a:off x="0" y="0"/>
            <a:ext cx="12191400" cy="145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E1D2F2"/>
          </a:solidFill>
          <a:ln w="9360">
            <a:solidFill>
              <a:srgbClr val="E1D2F2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Rectangle 2"/>
          <p:cNvSpPr/>
          <p:nvPr/>
        </p:nvSpPr>
        <p:spPr>
          <a:xfrm>
            <a:off x="0" y="6711840"/>
            <a:ext cx="12191400" cy="145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1EAF8"/>
          </a:solidFill>
          <a:ln w="9360">
            <a:solidFill>
              <a:srgbClr val="F1EAF8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00" name="Connector 3"/>
          <p:cNvCxnSpPr/>
          <p:nvPr/>
        </p:nvCxnSpPr>
        <p:spPr>
          <a:xfrm>
            <a:off x="11667600" y="594000"/>
            <a:ext cx="720" cy="412560"/>
          </a:xfrm>
          <a:prstGeom prst="straightConnector1">
            <a:avLst/>
          </a:prstGeom>
          <a:ln w="9360">
            <a:solidFill>
              <a:srgbClr val="7E9A7E"/>
            </a:solidFill>
            <a:round/>
          </a:ln>
        </p:spPr>
      </p:cxnSp>
      <p:sp>
        <p:nvSpPr>
          <p:cNvPr id="201" name="Oval 4"/>
          <p:cNvSpPr/>
          <p:nvPr/>
        </p:nvSpPr>
        <p:spPr>
          <a:xfrm>
            <a:off x="11475720" y="320040"/>
            <a:ext cx="164160" cy="273960"/>
          </a:xfrm>
          <a:custGeom>
            <a:avLst/>
            <a:gdLst>
              <a:gd name="textAreaLeft" fmla="*/ 23760 w 164160"/>
              <a:gd name="textAreaRight" fmla="*/ 140400 w 164160"/>
              <a:gd name="textAreaTop" fmla="*/ 39960 h 273960"/>
              <a:gd name="textAreaBottom" fmla="*/ 234000 h 273960"/>
            </a:gdLst>
            <a:ahLst/>
            <a:cxnLst/>
            <a:rect l="textAreaLeft" t="textAreaTop" r="textAreaRight" b="textAreaBottom"/>
            <a:pathLst>
              <a:path w="21600" h="36016">
                <a:moveTo>
                  <a:pt x="0" y="18008"/>
                </a:moveTo>
                <a:lnTo>
                  <a:pt x="0" y="18008"/>
                </a:lnTo>
                <a:arcTo wR="0" hR="0" stAng="0" swAng="0"/>
                <a:lnTo>
                  <a:pt x="0" y="18008"/>
                </a:lnTo>
                <a:arcTo wR="10800" hR="18008" stAng="-10800000" swAng="21550000"/>
                <a:close/>
              </a:path>
            </a:pathLst>
          </a:custGeom>
          <a:solidFill>
            <a:srgbClr val="704C91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Oval 5"/>
          <p:cNvSpPr/>
          <p:nvPr/>
        </p:nvSpPr>
        <p:spPr>
          <a:xfrm>
            <a:off x="11602080" y="292680"/>
            <a:ext cx="164160" cy="312480"/>
          </a:xfrm>
          <a:custGeom>
            <a:avLst/>
            <a:gdLst>
              <a:gd name="textAreaLeft" fmla="*/ 23760 w 164160"/>
              <a:gd name="textAreaRight" fmla="*/ 140400 w 164160"/>
              <a:gd name="textAreaTop" fmla="*/ 45720 h 312480"/>
              <a:gd name="textAreaBottom" fmla="*/ 266760 h 312480"/>
            </a:gdLst>
            <a:ahLst/>
            <a:cxnLst/>
            <a:rect l="textAreaLeft" t="textAreaTop" r="textAreaRight" b="textAreaBottom"/>
            <a:pathLst>
              <a:path w="21600" h="41073">
                <a:moveTo>
                  <a:pt x="0" y="20537"/>
                </a:moveTo>
                <a:lnTo>
                  <a:pt x="0" y="20537"/>
                </a:lnTo>
                <a:arcTo wR="0" hR="0" stAng="0" swAng="0"/>
                <a:lnTo>
                  <a:pt x="0" y="20537"/>
                </a:lnTo>
                <a:arcTo wR="10800" hR="20537" stAng="-10800000" swAng="21550000"/>
                <a:close/>
              </a:path>
            </a:pathLst>
          </a:custGeom>
          <a:solidFill>
            <a:srgbClr val="704C91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Oval 6"/>
          <p:cNvSpPr/>
          <p:nvPr/>
        </p:nvSpPr>
        <p:spPr>
          <a:xfrm>
            <a:off x="11728080" y="320040"/>
            <a:ext cx="164160" cy="273960"/>
          </a:xfrm>
          <a:custGeom>
            <a:avLst/>
            <a:gdLst>
              <a:gd name="textAreaLeft" fmla="*/ 23760 w 164160"/>
              <a:gd name="textAreaRight" fmla="*/ 140400 w 164160"/>
              <a:gd name="textAreaTop" fmla="*/ 39960 h 273960"/>
              <a:gd name="textAreaBottom" fmla="*/ 234000 h 273960"/>
            </a:gdLst>
            <a:ahLst/>
            <a:cxnLst/>
            <a:rect l="textAreaLeft" t="textAreaTop" r="textAreaRight" b="textAreaBottom"/>
            <a:pathLst>
              <a:path w="21600" h="36016">
                <a:moveTo>
                  <a:pt x="0" y="18008"/>
                </a:moveTo>
                <a:lnTo>
                  <a:pt x="0" y="18008"/>
                </a:lnTo>
                <a:arcTo wR="0" hR="0" stAng="0" swAng="0"/>
                <a:lnTo>
                  <a:pt x="0" y="18008"/>
                </a:lnTo>
                <a:arcTo wR="10800" hR="18008" stAng="-10800000" swAng="21550000"/>
                <a:close/>
              </a:path>
            </a:pathLst>
          </a:custGeom>
          <a:solidFill>
            <a:srgbClr val="704C91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Box 7"/>
          <p:cNvSpPr/>
          <p:nvPr/>
        </p:nvSpPr>
        <p:spPr>
          <a:xfrm>
            <a:off x="594360" y="431640"/>
            <a:ext cx="9143640" cy="5173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>
              <a:lnSpc>
                <a:spcPct val="100000"/>
              </a:lnSpc>
            </a:pPr>
            <a:r>
              <a:rPr lang="en-US" sz="2800" b="1" u="none" strike="noStrike">
                <a:solidFill>
                  <a:srgbClr val="372B43"/>
                </a:solidFill>
                <a:effectLst/>
                <a:uFillTx/>
                <a:latin typeface="Aptos"/>
              </a:rPr>
              <a:t>Model Comparison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05" name="Connector 8"/>
          <p:cNvCxnSpPr/>
          <p:nvPr/>
        </p:nvCxnSpPr>
        <p:spPr>
          <a:xfrm>
            <a:off x="594360" y="987480"/>
            <a:ext cx="2286720" cy="720"/>
          </a:xfrm>
          <a:prstGeom prst="straightConnector1">
            <a:avLst/>
          </a:prstGeom>
          <a:ln w="28080">
            <a:solidFill>
              <a:srgbClr val="704C91"/>
            </a:solidFill>
            <a:round/>
          </a:ln>
        </p:spPr>
      </p:cxnSp>
      <p:sp>
        <p:nvSpPr>
          <p:cNvPr id="206" name="Rectangle 10"/>
          <p:cNvSpPr/>
          <p:nvPr/>
        </p:nvSpPr>
        <p:spPr>
          <a:xfrm>
            <a:off x="685800" y="1508760"/>
            <a:ext cx="3840120" cy="5666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704C91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Box 11"/>
          <p:cNvSpPr/>
          <p:nvPr/>
        </p:nvSpPr>
        <p:spPr>
          <a:xfrm>
            <a:off x="685800" y="1615680"/>
            <a:ext cx="3840120" cy="288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Model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Rectangle 12"/>
          <p:cNvSpPr/>
          <p:nvPr/>
        </p:nvSpPr>
        <p:spPr>
          <a:xfrm>
            <a:off x="4526280" y="1508760"/>
            <a:ext cx="1645560" cy="5666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704C91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Box 13"/>
          <p:cNvSpPr/>
          <p:nvPr/>
        </p:nvSpPr>
        <p:spPr>
          <a:xfrm>
            <a:off x="4526280" y="1615680"/>
            <a:ext cx="1645560" cy="288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Accuracy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Rectangle 14"/>
          <p:cNvSpPr/>
          <p:nvPr/>
        </p:nvSpPr>
        <p:spPr>
          <a:xfrm>
            <a:off x="6172200" y="1508760"/>
            <a:ext cx="1645560" cy="5666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704C91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Box 15"/>
          <p:cNvSpPr/>
          <p:nvPr/>
        </p:nvSpPr>
        <p:spPr>
          <a:xfrm>
            <a:off x="6172200" y="1615680"/>
            <a:ext cx="1645560" cy="288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Precision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Rectangle 16"/>
          <p:cNvSpPr/>
          <p:nvPr/>
        </p:nvSpPr>
        <p:spPr>
          <a:xfrm>
            <a:off x="7818120" y="1508760"/>
            <a:ext cx="1645560" cy="5666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704C91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Box 17"/>
          <p:cNvSpPr/>
          <p:nvPr/>
        </p:nvSpPr>
        <p:spPr>
          <a:xfrm>
            <a:off x="7818120" y="1615680"/>
            <a:ext cx="1645560" cy="288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Recall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Rectangle 18"/>
          <p:cNvSpPr/>
          <p:nvPr/>
        </p:nvSpPr>
        <p:spPr>
          <a:xfrm>
            <a:off x="9464040" y="1508760"/>
            <a:ext cx="1645560" cy="5666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704C91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Box 19"/>
          <p:cNvSpPr/>
          <p:nvPr/>
        </p:nvSpPr>
        <p:spPr>
          <a:xfrm>
            <a:off x="9464040" y="1615680"/>
            <a:ext cx="1645560" cy="288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F1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Rectangle 20"/>
          <p:cNvSpPr/>
          <p:nvPr/>
        </p:nvSpPr>
        <p:spPr>
          <a:xfrm>
            <a:off x="685800" y="2075760"/>
            <a:ext cx="3840120" cy="658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Box 21"/>
          <p:cNvSpPr/>
          <p:nvPr/>
        </p:nvSpPr>
        <p:spPr>
          <a:xfrm>
            <a:off x="731520" y="2250000"/>
            <a:ext cx="3748680" cy="273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1200" b="0" u="none" strike="noStrike">
                <a:solidFill>
                  <a:srgbClr val="372B43"/>
                </a:solidFill>
                <a:effectLst/>
                <a:uFillTx/>
                <a:latin typeface="Aptos"/>
              </a:rPr>
              <a:t>Logistic Regression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Rectangle 22"/>
          <p:cNvSpPr/>
          <p:nvPr/>
        </p:nvSpPr>
        <p:spPr>
          <a:xfrm>
            <a:off x="4526280" y="2075760"/>
            <a:ext cx="1645560" cy="658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Box 23"/>
          <p:cNvSpPr/>
          <p:nvPr/>
        </p:nvSpPr>
        <p:spPr>
          <a:xfrm>
            <a:off x="4572000" y="2249640"/>
            <a:ext cx="1554120" cy="273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1200" b="0" u="none" strike="noStrike">
                <a:solidFill>
                  <a:srgbClr val="372B43"/>
                </a:solidFill>
                <a:effectLst/>
                <a:uFillTx/>
                <a:latin typeface="Aptos"/>
              </a:rPr>
              <a:t>71.35%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Rectangle 24"/>
          <p:cNvSpPr/>
          <p:nvPr/>
        </p:nvSpPr>
        <p:spPr>
          <a:xfrm>
            <a:off x="6172200" y="2075760"/>
            <a:ext cx="1645560" cy="658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Box 25"/>
          <p:cNvSpPr/>
          <p:nvPr/>
        </p:nvSpPr>
        <p:spPr>
          <a:xfrm>
            <a:off x="6217920" y="2249640"/>
            <a:ext cx="1554120" cy="273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1200" b="0" u="none" strike="noStrike">
                <a:solidFill>
                  <a:srgbClr val="372B43"/>
                </a:solidFill>
                <a:effectLst/>
                <a:uFillTx/>
                <a:latin typeface="Aptos"/>
              </a:rPr>
              <a:t>38.72%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Rectangle 26"/>
          <p:cNvSpPr/>
          <p:nvPr/>
        </p:nvSpPr>
        <p:spPr>
          <a:xfrm>
            <a:off x="7818120" y="2075760"/>
            <a:ext cx="1645560" cy="658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Box 27"/>
          <p:cNvSpPr/>
          <p:nvPr/>
        </p:nvSpPr>
        <p:spPr>
          <a:xfrm>
            <a:off x="7863840" y="2249640"/>
            <a:ext cx="1554120" cy="273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1200" b="0" u="none" strike="noStrike">
                <a:solidFill>
                  <a:srgbClr val="372B43"/>
                </a:solidFill>
                <a:effectLst/>
                <a:uFillTx/>
                <a:latin typeface="Aptos"/>
              </a:rPr>
              <a:t>70.02%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Rectangle 28"/>
          <p:cNvSpPr/>
          <p:nvPr/>
        </p:nvSpPr>
        <p:spPr>
          <a:xfrm>
            <a:off x="9464040" y="2075760"/>
            <a:ext cx="1645560" cy="658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Box 29"/>
          <p:cNvSpPr/>
          <p:nvPr/>
        </p:nvSpPr>
        <p:spPr>
          <a:xfrm>
            <a:off x="9509760" y="2249640"/>
            <a:ext cx="1554120" cy="273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1200" b="0" u="none" strike="noStrike">
                <a:solidFill>
                  <a:srgbClr val="372B43"/>
                </a:solidFill>
                <a:effectLst/>
                <a:uFillTx/>
                <a:latin typeface="Aptos"/>
              </a:rPr>
              <a:t>49.87%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Rectangle 30"/>
          <p:cNvSpPr/>
          <p:nvPr/>
        </p:nvSpPr>
        <p:spPr>
          <a:xfrm>
            <a:off x="685800" y="2734200"/>
            <a:ext cx="3840120" cy="658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Box 31"/>
          <p:cNvSpPr/>
          <p:nvPr/>
        </p:nvSpPr>
        <p:spPr>
          <a:xfrm>
            <a:off x="731520" y="2908440"/>
            <a:ext cx="3748680" cy="273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1200" b="0" u="none" strike="noStrike">
                <a:solidFill>
                  <a:srgbClr val="372B43"/>
                </a:solidFill>
                <a:effectLst/>
                <a:uFillTx/>
                <a:latin typeface="Aptos"/>
              </a:rPr>
              <a:t>Decision Tree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Rectangle 32"/>
          <p:cNvSpPr/>
          <p:nvPr/>
        </p:nvSpPr>
        <p:spPr>
          <a:xfrm>
            <a:off x="4526280" y="2734200"/>
            <a:ext cx="1645560" cy="658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Box 33"/>
          <p:cNvSpPr/>
          <p:nvPr/>
        </p:nvSpPr>
        <p:spPr>
          <a:xfrm>
            <a:off x="4572000" y="2908080"/>
            <a:ext cx="1554120" cy="273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1200" b="0" u="none" strike="noStrike">
                <a:solidFill>
                  <a:srgbClr val="372B43"/>
                </a:solidFill>
                <a:effectLst/>
                <a:uFillTx/>
                <a:latin typeface="Aptos"/>
              </a:rPr>
              <a:t>78.15%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Rectangle 34"/>
          <p:cNvSpPr/>
          <p:nvPr/>
        </p:nvSpPr>
        <p:spPr>
          <a:xfrm>
            <a:off x="6172200" y="2734200"/>
            <a:ext cx="1645560" cy="658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Box 35"/>
          <p:cNvSpPr/>
          <p:nvPr/>
        </p:nvSpPr>
        <p:spPr>
          <a:xfrm>
            <a:off x="6217920" y="2908080"/>
            <a:ext cx="1554120" cy="273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1200" b="0" u="none" strike="noStrike">
                <a:solidFill>
                  <a:srgbClr val="372B43"/>
                </a:solidFill>
                <a:effectLst/>
                <a:uFillTx/>
                <a:latin typeface="Aptos"/>
              </a:rPr>
              <a:t>46.36%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Rectangle 36"/>
          <p:cNvSpPr/>
          <p:nvPr/>
        </p:nvSpPr>
        <p:spPr>
          <a:xfrm>
            <a:off x="7818120" y="2734200"/>
            <a:ext cx="1645560" cy="658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Box 37"/>
          <p:cNvSpPr/>
          <p:nvPr/>
        </p:nvSpPr>
        <p:spPr>
          <a:xfrm>
            <a:off x="7863840" y="2908080"/>
            <a:ext cx="1554120" cy="273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1200" b="0" u="none" strike="noStrike">
                <a:solidFill>
                  <a:srgbClr val="372B43"/>
                </a:solidFill>
                <a:effectLst/>
                <a:uFillTx/>
                <a:latin typeface="Aptos"/>
              </a:rPr>
              <a:t>46.93%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Rectangle 38"/>
          <p:cNvSpPr/>
          <p:nvPr/>
        </p:nvSpPr>
        <p:spPr>
          <a:xfrm>
            <a:off x="9464040" y="2734200"/>
            <a:ext cx="1645560" cy="658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Box 39"/>
          <p:cNvSpPr/>
          <p:nvPr/>
        </p:nvSpPr>
        <p:spPr>
          <a:xfrm>
            <a:off x="9509760" y="2908080"/>
            <a:ext cx="1554120" cy="273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1200" b="0" u="none" strike="noStrike">
                <a:solidFill>
                  <a:srgbClr val="372B43"/>
                </a:solidFill>
                <a:effectLst/>
                <a:uFillTx/>
                <a:latin typeface="Aptos"/>
              </a:rPr>
              <a:t>46.64%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Rectangle 40"/>
          <p:cNvSpPr/>
          <p:nvPr/>
        </p:nvSpPr>
        <p:spPr>
          <a:xfrm>
            <a:off x="685800" y="3392280"/>
            <a:ext cx="3840120" cy="658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1EAF8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Box 41"/>
          <p:cNvSpPr/>
          <p:nvPr/>
        </p:nvSpPr>
        <p:spPr>
          <a:xfrm>
            <a:off x="731520" y="3566520"/>
            <a:ext cx="3748680" cy="273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372B43"/>
                </a:solidFill>
                <a:effectLst/>
                <a:uFillTx/>
                <a:latin typeface="Aptos"/>
              </a:rPr>
              <a:t>Random Forest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Rectangle 42"/>
          <p:cNvSpPr/>
          <p:nvPr/>
        </p:nvSpPr>
        <p:spPr>
          <a:xfrm>
            <a:off x="4526280" y="3392280"/>
            <a:ext cx="1645560" cy="658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1EAF8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Rectangle 44"/>
          <p:cNvSpPr/>
          <p:nvPr/>
        </p:nvSpPr>
        <p:spPr>
          <a:xfrm>
            <a:off x="6172200" y="3392280"/>
            <a:ext cx="1645560" cy="658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1EAF8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Box 45"/>
          <p:cNvSpPr/>
          <p:nvPr/>
        </p:nvSpPr>
        <p:spPr>
          <a:xfrm>
            <a:off x="6217920" y="3566160"/>
            <a:ext cx="1554120" cy="273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372B43"/>
                </a:solidFill>
                <a:effectLst/>
                <a:uFillTx/>
                <a:latin typeface="Aptos"/>
              </a:rPr>
              <a:t>77.13%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Rectangle 46"/>
          <p:cNvSpPr/>
          <p:nvPr/>
        </p:nvSpPr>
        <p:spPr>
          <a:xfrm>
            <a:off x="7818120" y="3392280"/>
            <a:ext cx="1645560" cy="658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1EAF8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Box 47"/>
          <p:cNvSpPr/>
          <p:nvPr/>
        </p:nvSpPr>
        <p:spPr>
          <a:xfrm>
            <a:off x="7863840" y="3566160"/>
            <a:ext cx="1554120" cy="273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372B43"/>
                </a:solidFill>
                <a:effectLst/>
                <a:uFillTx/>
                <a:latin typeface="Aptos"/>
              </a:rPr>
              <a:t>42.26%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Rectangle 48"/>
          <p:cNvSpPr/>
          <p:nvPr/>
        </p:nvSpPr>
        <p:spPr>
          <a:xfrm>
            <a:off x="9464040" y="3392280"/>
            <a:ext cx="1645560" cy="658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1EAF8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Box 49"/>
          <p:cNvSpPr/>
          <p:nvPr/>
        </p:nvSpPr>
        <p:spPr>
          <a:xfrm>
            <a:off x="9509760" y="3566160"/>
            <a:ext cx="1554120" cy="273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372B43"/>
                </a:solidFill>
                <a:effectLst/>
                <a:uFillTx/>
                <a:latin typeface="Aptos"/>
              </a:rPr>
              <a:t>54.60%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Box 50"/>
          <p:cNvSpPr/>
          <p:nvPr/>
        </p:nvSpPr>
        <p:spPr>
          <a:xfrm>
            <a:off x="4023360" y="4496040"/>
            <a:ext cx="4114440" cy="288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1300" b="1" u="none" strike="noStrike">
                <a:solidFill>
                  <a:srgbClr val="704C91"/>
                </a:solidFill>
                <a:effectLst/>
                <a:uFillTx/>
                <a:latin typeface="Aptos"/>
              </a:rPr>
              <a:t>BEST OVERALL MODEL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Box 51"/>
          <p:cNvSpPr/>
          <p:nvPr/>
        </p:nvSpPr>
        <p:spPr>
          <a:xfrm>
            <a:off x="3657600" y="4907880"/>
            <a:ext cx="4891680" cy="471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2500" b="1" u="none" strike="noStrike">
                <a:solidFill>
                  <a:srgbClr val="372B43"/>
                </a:solidFill>
                <a:effectLst/>
                <a:uFillTx/>
                <a:latin typeface="Aptos"/>
              </a:rPr>
              <a:t>Random Forest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Box 8"/>
          <p:cNvSpPr/>
          <p:nvPr/>
        </p:nvSpPr>
        <p:spPr>
          <a:xfrm>
            <a:off x="4579560" y="3549240"/>
            <a:ext cx="1554120" cy="273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372B43"/>
                </a:solidFill>
                <a:effectLst/>
                <a:uFillTx/>
                <a:latin typeface="Aptos"/>
              </a:rPr>
              <a:t>85.70%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Rectangle 1"/>
          <p:cNvSpPr/>
          <p:nvPr/>
        </p:nvSpPr>
        <p:spPr>
          <a:xfrm>
            <a:off x="0" y="0"/>
            <a:ext cx="12191400" cy="145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E1D2F2"/>
          </a:solidFill>
          <a:ln w="9360">
            <a:solidFill>
              <a:srgbClr val="E1D2F2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Rectangle 2"/>
          <p:cNvSpPr/>
          <p:nvPr/>
        </p:nvSpPr>
        <p:spPr>
          <a:xfrm>
            <a:off x="0" y="6711840"/>
            <a:ext cx="12191400" cy="145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1EAF8"/>
          </a:solidFill>
          <a:ln w="9360">
            <a:solidFill>
              <a:srgbClr val="F1EAF8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50" name="Connector 3"/>
          <p:cNvCxnSpPr/>
          <p:nvPr/>
        </p:nvCxnSpPr>
        <p:spPr>
          <a:xfrm>
            <a:off x="11667600" y="594000"/>
            <a:ext cx="720" cy="412560"/>
          </a:xfrm>
          <a:prstGeom prst="straightConnector1">
            <a:avLst/>
          </a:prstGeom>
          <a:ln w="9360">
            <a:solidFill>
              <a:srgbClr val="7E9A7E"/>
            </a:solidFill>
            <a:round/>
          </a:ln>
        </p:spPr>
      </p:cxnSp>
      <p:sp>
        <p:nvSpPr>
          <p:cNvPr id="251" name="Oval 4"/>
          <p:cNvSpPr/>
          <p:nvPr/>
        </p:nvSpPr>
        <p:spPr>
          <a:xfrm>
            <a:off x="11475720" y="320040"/>
            <a:ext cx="164160" cy="273960"/>
          </a:xfrm>
          <a:custGeom>
            <a:avLst/>
            <a:gdLst>
              <a:gd name="textAreaLeft" fmla="*/ 23760 w 164160"/>
              <a:gd name="textAreaRight" fmla="*/ 140400 w 164160"/>
              <a:gd name="textAreaTop" fmla="*/ 39960 h 273960"/>
              <a:gd name="textAreaBottom" fmla="*/ 234000 h 273960"/>
            </a:gdLst>
            <a:ahLst/>
            <a:cxnLst/>
            <a:rect l="textAreaLeft" t="textAreaTop" r="textAreaRight" b="textAreaBottom"/>
            <a:pathLst>
              <a:path w="21600" h="36016">
                <a:moveTo>
                  <a:pt x="0" y="18008"/>
                </a:moveTo>
                <a:lnTo>
                  <a:pt x="0" y="18008"/>
                </a:lnTo>
                <a:arcTo wR="0" hR="0" stAng="0" swAng="0"/>
                <a:lnTo>
                  <a:pt x="0" y="18008"/>
                </a:lnTo>
                <a:arcTo wR="10800" hR="18008" stAng="-10800000" swAng="21550000"/>
                <a:close/>
              </a:path>
            </a:pathLst>
          </a:custGeom>
          <a:solidFill>
            <a:srgbClr val="704C91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Oval 5"/>
          <p:cNvSpPr/>
          <p:nvPr/>
        </p:nvSpPr>
        <p:spPr>
          <a:xfrm>
            <a:off x="11602080" y="292680"/>
            <a:ext cx="164160" cy="312480"/>
          </a:xfrm>
          <a:custGeom>
            <a:avLst/>
            <a:gdLst>
              <a:gd name="textAreaLeft" fmla="*/ 23760 w 164160"/>
              <a:gd name="textAreaRight" fmla="*/ 140400 w 164160"/>
              <a:gd name="textAreaTop" fmla="*/ 45720 h 312480"/>
              <a:gd name="textAreaBottom" fmla="*/ 266760 h 312480"/>
            </a:gdLst>
            <a:ahLst/>
            <a:cxnLst/>
            <a:rect l="textAreaLeft" t="textAreaTop" r="textAreaRight" b="textAreaBottom"/>
            <a:pathLst>
              <a:path w="21600" h="41073">
                <a:moveTo>
                  <a:pt x="0" y="20537"/>
                </a:moveTo>
                <a:lnTo>
                  <a:pt x="0" y="20537"/>
                </a:lnTo>
                <a:arcTo wR="0" hR="0" stAng="0" swAng="0"/>
                <a:lnTo>
                  <a:pt x="0" y="20537"/>
                </a:lnTo>
                <a:arcTo wR="10800" hR="20537" stAng="-10800000" swAng="21550000"/>
                <a:close/>
              </a:path>
            </a:pathLst>
          </a:custGeom>
          <a:solidFill>
            <a:srgbClr val="704C91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Oval 6"/>
          <p:cNvSpPr/>
          <p:nvPr/>
        </p:nvSpPr>
        <p:spPr>
          <a:xfrm>
            <a:off x="11728080" y="320040"/>
            <a:ext cx="164160" cy="273960"/>
          </a:xfrm>
          <a:custGeom>
            <a:avLst/>
            <a:gdLst>
              <a:gd name="textAreaLeft" fmla="*/ 23760 w 164160"/>
              <a:gd name="textAreaRight" fmla="*/ 140400 w 164160"/>
              <a:gd name="textAreaTop" fmla="*/ 39960 h 273960"/>
              <a:gd name="textAreaBottom" fmla="*/ 234000 h 273960"/>
            </a:gdLst>
            <a:ahLst/>
            <a:cxnLst/>
            <a:rect l="textAreaLeft" t="textAreaTop" r="textAreaRight" b="textAreaBottom"/>
            <a:pathLst>
              <a:path w="21600" h="36016">
                <a:moveTo>
                  <a:pt x="0" y="18008"/>
                </a:moveTo>
                <a:lnTo>
                  <a:pt x="0" y="18008"/>
                </a:lnTo>
                <a:arcTo wR="0" hR="0" stAng="0" swAng="0"/>
                <a:lnTo>
                  <a:pt x="0" y="18008"/>
                </a:lnTo>
                <a:arcTo wR="10800" hR="18008" stAng="-10800000" swAng="21550000"/>
                <a:close/>
              </a:path>
            </a:pathLst>
          </a:custGeom>
          <a:solidFill>
            <a:srgbClr val="704C91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Box 7"/>
          <p:cNvSpPr/>
          <p:nvPr/>
        </p:nvSpPr>
        <p:spPr>
          <a:xfrm>
            <a:off x="594360" y="431280"/>
            <a:ext cx="9143640" cy="5173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>
              <a:lnSpc>
                <a:spcPct val="100000"/>
              </a:lnSpc>
            </a:pPr>
            <a:r>
              <a:rPr lang="en-US" sz="2800" b="1" u="none" strike="noStrike">
                <a:solidFill>
                  <a:srgbClr val="372B43"/>
                </a:solidFill>
                <a:effectLst/>
                <a:uFillTx/>
                <a:latin typeface="Aptos"/>
              </a:rPr>
              <a:t>Hyperparameter Tuning &amp; Final Model Results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55" name="Connector 8"/>
          <p:cNvCxnSpPr/>
          <p:nvPr/>
        </p:nvCxnSpPr>
        <p:spPr>
          <a:xfrm>
            <a:off x="594360" y="987480"/>
            <a:ext cx="2286720" cy="720"/>
          </a:xfrm>
          <a:prstGeom prst="straightConnector1">
            <a:avLst/>
          </a:prstGeom>
          <a:ln w="28080">
            <a:solidFill>
              <a:srgbClr val="704C91"/>
            </a:solidFill>
            <a:round/>
          </a:ln>
        </p:spPr>
      </p:cxnSp>
      <p:sp>
        <p:nvSpPr>
          <p:cNvPr id="256" name="Rounded Rectangle 20"/>
          <p:cNvSpPr/>
          <p:nvPr/>
        </p:nvSpPr>
        <p:spPr>
          <a:xfrm>
            <a:off x="253080" y="1195200"/>
            <a:ext cx="5602320" cy="5437440"/>
          </a:xfrm>
          <a:custGeom>
            <a:avLst/>
            <a:gdLst>
              <a:gd name="textAreaLeft" fmla="*/ 265320 w 5602320"/>
              <a:gd name="textAreaRight" fmla="*/ 5337000 w 5602320"/>
              <a:gd name="textAreaTop" fmla="*/ 265320 h 5437440"/>
              <a:gd name="textAreaBottom" fmla="*/ 5172120 h 5437440"/>
            </a:gdLst>
            <a:ahLst/>
            <a:cxnLst/>
            <a:rect l="textAreaLeft" t="textAreaTop" r="textAreaRight" b="textAreaBottom"/>
            <a:pathLst>
              <a:path w="22255" h="21600">
                <a:moveTo>
                  <a:pt x="3600" y="0"/>
                </a:moveTo>
                <a:arcTo wR="3600" hR="3600" stAng="16200000" swAng="-5400000"/>
                <a:lnTo>
                  <a:pt x="0" y="18000"/>
                </a:lnTo>
                <a:arcTo wR="3600" hR="3600" stAng="10800000" swAng="-5400000"/>
                <a:lnTo>
                  <a:pt x="18655" y="21600"/>
                </a:lnTo>
                <a:arcTo wR="3600" hR="3600" stAng="5400000" swAng="-5400000"/>
                <a:lnTo>
                  <a:pt x="22255" y="3600"/>
                </a:lnTo>
                <a:arcTo wR="3600" hR="3600" stAng="0" swAng="-5400000"/>
                <a:close/>
              </a:path>
            </a:pathLst>
          </a:custGeom>
          <a:solidFill>
            <a:srgbClr val="FFFFFF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Box 22"/>
          <p:cNvSpPr/>
          <p:nvPr/>
        </p:nvSpPr>
        <p:spPr>
          <a:xfrm>
            <a:off x="710640" y="1384560"/>
            <a:ext cx="5383080" cy="5208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>
              <a:lnSpc>
                <a:spcPct val="100000"/>
              </a:lnSpc>
            </a:pPr>
            <a:r>
              <a:rPr lang="en-US" sz="1600" b="1" u="sng" strike="noStrike">
                <a:solidFill>
                  <a:srgbClr val="000000"/>
                </a:solidFill>
                <a:effectLst/>
                <a:uFillTx/>
                <a:latin typeface="Calibri"/>
              </a:rPr>
              <a:t>Hyperparameter Tuning :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Hyperparameter tuning is the process of finding the best settings (hyperparameters) for a machine learning model to improve its performance.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sng" strike="noStrike">
                <a:solidFill>
                  <a:srgbClr val="372B43"/>
                </a:solidFill>
                <a:effectLst/>
                <a:uFillTx/>
                <a:latin typeface="Calibri"/>
                <a:ea typeface="Calibri"/>
              </a:rPr>
              <a:t>To improve the Random Forest model, I used: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GridSearchCV :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rgbClr val="372B43"/>
                </a:solidFill>
                <a:effectLst/>
                <a:uFillTx/>
                <a:latin typeface="Calibri"/>
                <a:ea typeface="Calibri"/>
              </a:rPr>
              <a:t>5-Fold Cross Validation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rgbClr val="372B43"/>
                </a:solidFill>
                <a:effectLst/>
                <a:uFillTx/>
                <a:latin typeface="Calibri"/>
                <a:ea typeface="Calibri"/>
              </a:rPr>
              <a:t>Scoring: Recall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Parameters Tuned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rgbClr val="372B43"/>
                </a:solidFill>
                <a:effectLst/>
                <a:uFillTx/>
                <a:latin typeface="Calibri"/>
                <a:ea typeface="Calibri"/>
              </a:rPr>
              <a:t>Number of estimators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rgbClr val="372B43"/>
                </a:solidFill>
                <a:effectLst/>
                <a:uFillTx/>
                <a:latin typeface="Calibri"/>
                <a:ea typeface="Calibri"/>
              </a:rPr>
              <a:t>Maximum tree depth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rgbClr val="372B43"/>
                </a:solidFill>
                <a:effectLst/>
                <a:uFillTx/>
                <a:latin typeface="Calibri"/>
                <a:ea typeface="Calibri"/>
              </a:rPr>
              <a:t>Minimum samples required for split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rgbClr val="372B43"/>
                </a:solidFill>
                <a:effectLst/>
                <a:uFillTx/>
                <a:latin typeface="Calibri"/>
                <a:ea typeface="Calibri"/>
              </a:rPr>
              <a:t>Minimum samples required at leaf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372B43"/>
                </a:solidFill>
                <a:effectLst/>
                <a:uFillTx/>
                <a:latin typeface="Calibri"/>
                <a:ea typeface="Calibri"/>
              </a:rPr>
              <a:t>The actual search used the following parameter ranges and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372B43"/>
                </a:solidFill>
                <a:effectLst/>
                <a:uFillTx/>
                <a:latin typeface="Calibri"/>
                <a:ea typeface="Calibri"/>
              </a:rPr>
              <a:t> 5-fold cross-validation with recall as the scoring metric.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Best Parameters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372B43"/>
                </a:solidFill>
                <a:effectLst/>
                <a:uFillTx/>
                <a:latin typeface="Consolas"/>
              </a:rPr>
              <a:t>n_estimators = 200 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372B43"/>
                </a:solidFill>
                <a:effectLst/>
                <a:uFillTx/>
                <a:latin typeface="Consolas"/>
              </a:rPr>
              <a:t>max_depth = 5 min_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372B43"/>
                </a:solidFill>
                <a:effectLst/>
                <a:uFillTx/>
                <a:latin typeface="Consolas"/>
              </a:rPr>
              <a:t>samples_split = 10 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372B43"/>
                </a:solidFill>
                <a:effectLst/>
                <a:uFillTx/>
                <a:latin typeface="Consolas"/>
              </a:rPr>
              <a:t>min_samples_leaf = 2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Rounded Rectangle 20"/>
          <p:cNvSpPr/>
          <p:nvPr/>
        </p:nvSpPr>
        <p:spPr>
          <a:xfrm>
            <a:off x="6090120" y="1195200"/>
            <a:ext cx="5602320" cy="5437440"/>
          </a:xfrm>
          <a:custGeom>
            <a:avLst/>
            <a:gdLst>
              <a:gd name="textAreaLeft" fmla="*/ 265320 w 5602320"/>
              <a:gd name="textAreaRight" fmla="*/ 5337000 w 5602320"/>
              <a:gd name="textAreaTop" fmla="*/ 265320 h 5437440"/>
              <a:gd name="textAreaBottom" fmla="*/ 5172120 h 5437440"/>
            </a:gdLst>
            <a:ahLst/>
            <a:cxnLst/>
            <a:rect l="textAreaLeft" t="textAreaTop" r="textAreaRight" b="textAreaBottom"/>
            <a:pathLst>
              <a:path w="22255" h="21600">
                <a:moveTo>
                  <a:pt x="3600" y="0"/>
                </a:moveTo>
                <a:arcTo wR="3600" hR="3600" stAng="16200000" swAng="-5400000"/>
                <a:lnTo>
                  <a:pt x="0" y="18000"/>
                </a:lnTo>
                <a:arcTo wR="3600" hR="3600" stAng="10800000" swAng="-5400000"/>
                <a:lnTo>
                  <a:pt x="18655" y="21600"/>
                </a:lnTo>
                <a:arcTo wR="3600" hR="3600" stAng="5400000" swAng="-5400000"/>
                <a:lnTo>
                  <a:pt x="22255" y="3600"/>
                </a:lnTo>
                <a:arcTo wR="3600" hR="3600" stAng="0" swAng="-5400000"/>
                <a:close/>
              </a:path>
            </a:pathLst>
          </a:custGeom>
          <a:solidFill>
            <a:srgbClr val="FFFFFF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Box 5"/>
          <p:cNvSpPr txBox="1"/>
          <p:nvPr/>
        </p:nvSpPr>
        <p:spPr>
          <a:xfrm>
            <a:off x="7504920" y="1387440"/>
            <a:ext cx="2918520" cy="1261800"/>
          </a:xfrm>
          <a:prstGeom prst="rect">
            <a:avLst/>
          </a:prstGeom>
          <a:noFill/>
          <a:ln w="9360">
            <a:solidFill>
              <a:srgbClr val="604A7B"/>
            </a:solidFill>
            <a:round/>
          </a:ln>
        </p:spPr>
        <p:txBody>
          <a:bodyPr anchor="t">
            <a:spAutoFit/>
          </a:bodyPr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Final Model Evaluation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 Tuned Random Forest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Box 9"/>
          <p:cNvSpPr txBox="1"/>
          <p:nvPr/>
        </p:nvSpPr>
        <p:spPr>
          <a:xfrm>
            <a:off x="6270120" y="5148360"/>
            <a:ext cx="5229000" cy="1477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Key Result :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1" u="sng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Recall = 75.92%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The model identifies a large proportion of actual churners.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Box 10"/>
          <p:cNvSpPr txBox="1"/>
          <p:nvPr/>
        </p:nvSpPr>
        <p:spPr>
          <a:xfrm>
            <a:off x="8887680" y="2804400"/>
            <a:ext cx="2627640" cy="2621880"/>
          </a:xfrm>
          <a:prstGeom prst="rect">
            <a:avLst/>
          </a:prstGeom>
          <a:solidFill>
            <a:srgbClr val="CCC1DA"/>
          </a:solidFill>
          <a:ln w="0">
            <a:noFill/>
          </a:ln>
        </p:spPr>
        <p:txBody>
          <a:bodyPr anchor="t">
            <a:spAutoFit/>
          </a:bodyPr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  Confusion Matrix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                    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alibri"/>
              </a:rPr>
              <a:t>Predicted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alibri"/>
              </a:rPr>
              <a:t>            0    1</a:t>
            </a:r>
            <a:br>
              <a:rPr sz="1800"/>
            </a:b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alibri"/>
              </a:rPr>
              <a:t>Actual   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alibri"/>
              </a:rPr>
              <a:t>  0       1280 313      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alibri"/>
              </a:rPr>
              <a:t>  1         98 309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br>
              <a:rPr sz="1800"/>
            </a:b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62" name=""/>
          <p:cNvGraphicFramePr/>
          <p:nvPr/>
        </p:nvGraphicFramePr>
        <p:xfrm>
          <a:off x="6300000" y="2889720"/>
          <a:ext cx="2399400" cy="2151360"/>
        </p:xfrm>
        <a:graphic>
          <a:graphicData uri="http://schemas.openxmlformats.org/drawingml/2006/table">
            <a:tbl>
              <a:tblPr/>
              <a:tblGrid>
                <a:gridCol w="1199880"/>
                <a:gridCol w="1199880"/>
              </a:tblGrid>
              <a:tr h="36072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Metric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Score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36072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Accuracy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79.45%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36072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Precision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49.68%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36072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Recall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75.92%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36108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IN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F1 Score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60.06%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34776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IN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ROC-AUC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78.14%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Rectangle 1"/>
          <p:cNvSpPr/>
          <p:nvPr/>
        </p:nvSpPr>
        <p:spPr>
          <a:xfrm>
            <a:off x="0" y="0"/>
            <a:ext cx="12191400" cy="145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E1D2F2"/>
          </a:solidFill>
          <a:ln w="9360">
            <a:solidFill>
              <a:srgbClr val="E1D2F2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Rectangle 2"/>
          <p:cNvSpPr/>
          <p:nvPr/>
        </p:nvSpPr>
        <p:spPr>
          <a:xfrm>
            <a:off x="0" y="6711840"/>
            <a:ext cx="12191400" cy="145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1EAF8"/>
          </a:solidFill>
          <a:ln w="9360">
            <a:solidFill>
              <a:srgbClr val="F1EAF8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65" name="Connector 3"/>
          <p:cNvCxnSpPr/>
          <p:nvPr/>
        </p:nvCxnSpPr>
        <p:spPr>
          <a:xfrm>
            <a:off x="11667600" y="594000"/>
            <a:ext cx="720" cy="412560"/>
          </a:xfrm>
          <a:prstGeom prst="straightConnector1">
            <a:avLst/>
          </a:prstGeom>
          <a:ln w="9360">
            <a:solidFill>
              <a:srgbClr val="7E9A7E"/>
            </a:solidFill>
            <a:round/>
          </a:ln>
        </p:spPr>
      </p:cxnSp>
      <p:sp>
        <p:nvSpPr>
          <p:cNvPr id="266" name="Oval 4"/>
          <p:cNvSpPr/>
          <p:nvPr/>
        </p:nvSpPr>
        <p:spPr>
          <a:xfrm>
            <a:off x="11475720" y="320040"/>
            <a:ext cx="164160" cy="273960"/>
          </a:xfrm>
          <a:custGeom>
            <a:avLst/>
            <a:gdLst>
              <a:gd name="textAreaLeft" fmla="*/ 23760 w 164160"/>
              <a:gd name="textAreaRight" fmla="*/ 140400 w 164160"/>
              <a:gd name="textAreaTop" fmla="*/ 39960 h 273960"/>
              <a:gd name="textAreaBottom" fmla="*/ 234000 h 273960"/>
            </a:gdLst>
            <a:ahLst/>
            <a:cxnLst/>
            <a:rect l="textAreaLeft" t="textAreaTop" r="textAreaRight" b="textAreaBottom"/>
            <a:pathLst>
              <a:path w="21600" h="36016">
                <a:moveTo>
                  <a:pt x="0" y="18008"/>
                </a:moveTo>
                <a:lnTo>
                  <a:pt x="0" y="18008"/>
                </a:lnTo>
                <a:arcTo wR="0" hR="0" stAng="0" swAng="0"/>
                <a:lnTo>
                  <a:pt x="0" y="18008"/>
                </a:lnTo>
                <a:arcTo wR="10800" hR="18008" stAng="-10800000" swAng="21550000"/>
                <a:close/>
              </a:path>
            </a:pathLst>
          </a:custGeom>
          <a:solidFill>
            <a:srgbClr val="704C91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Oval 5"/>
          <p:cNvSpPr/>
          <p:nvPr/>
        </p:nvSpPr>
        <p:spPr>
          <a:xfrm>
            <a:off x="11602080" y="292680"/>
            <a:ext cx="164160" cy="312480"/>
          </a:xfrm>
          <a:custGeom>
            <a:avLst/>
            <a:gdLst>
              <a:gd name="textAreaLeft" fmla="*/ 23760 w 164160"/>
              <a:gd name="textAreaRight" fmla="*/ 140400 w 164160"/>
              <a:gd name="textAreaTop" fmla="*/ 45720 h 312480"/>
              <a:gd name="textAreaBottom" fmla="*/ 266760 h 312480"/>
            </a:gdLst>
            <a:ahLst/>
            <a:cxnLst/>
            <a:rect l="textAreaLeft" t="textAreaTop" r="textAreaRight" b="textAreaBottom"/>
            <a:pathLst>
              <a:path w="21600" h="41073">
                <a:moveTo>
                  <a:pt x="0" y="20537"/>
                </a:moveTo>
                <a:lnTo>
                  <a:pt x="0" y="20537"/>
                </a:lnTo>
                <a:arcTo wR="0" hR="0" stAng="0" swAng="0"/>
                <a:lnTo>
                  <a:pt x="0" y="20537"/>
                </a:lnTo>
                <a:arcTo wR="10800" hR="20537" stAng="-10800000" swAng="21550000"/>
                <a:close/>
              </a:path>
            </a:pathLst>
          </a:custGeom>
          <a:solidFill>
            <a:srgbClr val="704C91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Oval 6"/>
          <p:cNvSpPr/>
          <p:nvPr/>
        </p:nvSpPr>
        <p:spPr>
          <a:xfrm>
            <a:off x="11728080" y="320040"/>
            <a:ext cx="164160" cy="273960"/>
          </a:xfrm>
          <a:custGeom>
            <a:avLst/>
            <a:gdLst>
              <a:gd name="textAreaLeft" fmla="*/ 23760 w 164160"/>
              <a:gd name="textAreaRight" fmla="*/ 140400 w 164160"/>
              <a:gd name="textAreaTop" fmla="*/ 39960 h 273960"/>
              <a:gd name="textAreaBottom" fmla="*/ 234000 h 273960"/>
            </a:gdLst>
            <a:ahLst/>
            <a:cxnLst/>
            <a:rect l="textAreaLeft" t="textAreaTop" r="textAreaRight" b="textAreaBottom"/>
            <a:pathLst>
              <a:path w="21600" h="36016">
                <a:moveTo>
                  <a:pt x="0" y="18008"/>
                </a:moveTo>
                <a:lnTo>
                  <a:pt x="0" y="18008"/>
                </a:lnTo>
                <a:arcTo wR="0" hR="0" stAng="0" swAng="0"/>
                <a:lnTo>
                  <a:pt x="0" y="18008"/>
                </a:lnTo>
                <a:arcTo wR="10800" hR="18008" stAng="-10800000" swAng="21550000"/>
                <a:close/>
              </a:path>
            </a:pathLst>
          </a:custGeom>
          <a:solidFill>
            <a:srgbClr val="704C91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Box 7"/>
          <p:cNvSpPr/>
          <p:nvPr/>
        </p:nvSpPr>
        <p:spPr>
          <a:xfrm>
            <a:off x="594360" y="431640"/>
            <a:ext cx="9143640" cy="5173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>
              <a:lnSpc>
                <a:spcPct val="100000"/>
              </a:lnSpc>
            </a:pPr>
            <a:r>
              <a:rPr lang="en-US" sz="2800" b="1" u="none" strike="noStrike">
                <a:solidFill>
                  <a:srgbClr val="372B43"/>
                </a:solidFill>
                <a:effectLst/>
                <a:uFillTx/>
                <a:latin typeface="Aptos"/>
              </a:rPr>
              <a:t>Churn Prediction System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70" name="Connector 8"/>
          <p:cNvCxnSpPr/>
          <p:nvPr/>
        </p:nvCxnSpPr>
        <p:spPr>
          <a:xfrm>
            <a:off x="594360" y="987480"/>
            <a:ext cx="2286720" cy="720"/>
          </a:xfrm>
          <a:prstGeom prst="straightConnector1">
            <a:avLst/>
          </a:prstGeom>
          <a:ln w="28080">
            <a:solidFill>
              <a:srgbClr val="704C91"/>
            </a:solidFill>
            <a:round/>
          </a:ln>
        </p:spPr>
      </p:cxnSp>
      <p:sp>
        <p:nvSpPr>
          <p:cNvPr id="271" name="Rounded Rectangle 10"/>
          <p:cNvSpPr/>
          <p:nvPr/>
        </p:nvSpPr>
        <p:spPr>
          <a:xfrm>
            <a:off x="743400" y="1417320"/>
            <a:ext cx="4891680" cy="5007960"/>
          </a:xfrm>
          <a:custGeom>
            <a:avLst/>
            <a:gdLst>
              <a:gd name="textAreaLeft" fmla="*/ 238680 w 4891680"/>
              <a:gd name="textAreaRight" fmla="*/ 4653000 w 4891680"/>
              <a:gd name="textAreaTop" fmla="*/ 238680 h 5007960"/>
              <a:gd name="textAreaBottom" fmla="*/ 4769280 h 5007960"/>
            </a:gdLst>
            <a:ahLst/>
            <a:cxnLst/>
            <a:rect l="textAreaLeft" t="textAreaTop" r="textAreaRight" b="textAreaBottom"/>
            <a:pathLst>
              <a:path w="21600" h="22113">
                <a:moveTo>
                  <a:pt x="3600" y="0"/>
                </a:moveTo>
                <a:arcTo wR="3600" hR="3600" stAng="16200000" swAng="-5400000"/>
                <a:lnTo>
                  <a:pt x="0" y="18513"/>
                </a:lnTo>
                <a:arcTo wR="3600" hR="3600" stAng="10800000" swAng="-5400000"/>
                <a:lnTo>
                  <a:pt x="18000" y="22113"/>
                </a:lnTo>
                <a:arcTo wR="3600" hR="3600" stAng="5400000" swAng="-5400000"/>
                <a:lnTo>
                  <a:pt x="21600" y="3600"/>
                </a:lnTo>
                <a:arcTo wR="3600" hR="3600" stAng="0" swAng="-5400000"/>
                <a:close/>
              </a:path>
            </a:pathLst>
          </a:custGeom>
          <a:solidFill>
            <a:srgbClr val="FFFFFF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Box 11"/>
          <p:cNvSpPr/>
          <p:nvPr/>
        </p:nvSpPr>
        <p:spPr>
          <a:xfrm>
            <a:off x="1005840" y="1559520"/>
            <a:ext cx="4205880" cy="3189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1500" b="1" u="none" strike="noStrike">
                <a:solidFill>
                  <a:srgbClr val="704C91"/>
                </a:solidFill>
                <a:effectLst/>
                <a:uFillTx/>
                <a:latin typeface="Aptos"/>
              </a:rPr>
              <a:t>CUSTOMER INPUT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Rounded Rectangle 12"/>
          <p:cNvSpPr/>
          <p:nvPr/>
        </p:nvSpPr>
        <p:spPr>
          <a:xfrm>
            <a:off x="960120" y="2044080"/>
            <a:ext cx="2011320" cy="566640"/>
          </a:xfrm>
          <a:custGeom>
            <a:avLst/>
            <a:gdLst>
              <a:gd name="textAreaLeft" fmla="*/ 27360 w 2011320"/>
              <a:gd name="textAreaRight" fmla="*/ 1983960 w 2011320"/>
              <a:gd name="textAreaTop" fmla="*/ 27360 h 566640"/>
              <a:gd name="textAreaBottom" fmla="*/ 539280 h 566640"/>
            </a:gdLst>
            <a:ahLst/>
            <a:cxnLst/>
            <a:rect l="textAreaLeft" t="textAreaTop" r="textAreaRight" b="textAreaBottom"/>
            <a:pathLst>
              <a:path w="76635" h="21600">
                <a:moveTo>
                  <a:pt x="3600" y="0"/>
                </a:moveTo>
                <a:arcTo wR="3600" hR="3600" stAng="16200000" swAng="-5400000"/>
                <a:lnTo>
                  <a:pt x="0" y="18000"/>
                </a:lnTo>
                <a:arcTo wR="3600" hR="3600" stAng="10800000" swAng="-5400000"/>
                <a:lnTo>
                  <a:pt x="73035" y="21600"/>
                </a:lnTo>
                <a:arcTo wR="3600" hR="3600" stAng="5400000" swAng="-5400000"/>
                <a:lnTo>
                  <a:pt x="76635" y="3600"/>
                </a:lnTo>
                <a:arcTo wR="3600" hR="3600" stAng="0" swAng="-5400000"/>
                <a:close/>
              </a:path>
            </a:pathLst>
          </a:custGeom>
          <a:solidFill>
            <a:srgbClr val="F1EAF8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Box 13"/>
          <p:cNvSpPr/>
          <p:nvPr/>
        </p:nvSpPr>
        <p:spPr>
          <a:xfrm>
            <a:off x="1105200" y="2199240"/>
            <a:ext cx="1865160" cy="2581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1100" b="1" u="none" strike="noStrike">
                <a:solidFill>
                  <a:srgbClr val="372B43"/>
                </a:solidFill>
                <a:effectLst/>
                <a:uFillTx/>
                <a:latin typeface="Aptos"/>
              </a:rPr>
              <a:t>Credit Score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Rounded Rectangle 14"/>
          <p:cNvSpPr/>
          <p:nvPr/>
        </p:nvSpPr>
        <p:spPr>
          <a:xfrm>
            <a:off x="3318120" y="2044080"/>
            <a:ext cx="2011320" cy="566640"/>
          </a:xfrm>
          <a:custGeom>
            <a:avLst/>
            <a:gdLst>
              <a:gd name="textAreaLeft" fmla="*/ 27360 w 2011320"/>
              <a:gd name="textAreaRight" fmla="*/ 1983960 w 2011320"/>
              <a:gd name="textAreaTop" fmla="*/ 27360 h 566640"/>
              <a:gd name="textAreaBottom" fmla="*/ 539280 h 566640"/>
            </a:gdLst>
            <a:ahLst/>
            <a:cxnLst/>
            <a:rect l="textAreaLeft" t="textAreaTop" r="textAreaRight" b="textAreaBottom"/>
            <a:pathLst>
              <a:path w="76635" h="21600">
                <a:moveTo>
                  <a:pt x="3600" y="0"/>
                </a:moveTo>
                <a:arcTo wR="3600" hR="3600" stAng="16200000" swAng="-5400000"/>
                <a:lnTo>
                  <a:pt x="0" y="18000"/>
                </a:lnTo>
                <a:arcTo wR="3600" hR="3600" stAng="10800000" swAng="-5400000"/>
                <a:lnTo>
                  <a:pt x="73035" y="21600"/>
                </a:lnTo>
                <a:arcTo wR="3600" hR="3600" stAng="5400000" swAng="-5400000"/>
                <a:lnTo>
                  <a:pt x="76635" y="3600"/>
                </a:lnTo>
                <a:arcTo wR="3600" hR="3600" stAng="0" swAng="-5400000"/>
                <a:close/>
              </a:path>
            </a:pathLst>
          </a:custGeom>
          <a:solidFill>
            <a:srgbClr val="F1EAF8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Box 15"/>
          <p:cNvSpPr/>
          <p:nvPr/>
        </p:nvSpPr>
        <p:spPr>
          <a:xfrm>
            <a:off x="3290400" y="2199240"/>
            <a:ext cx="1865160" cy="2581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1100" b="1" u="none" strike="noStrike">
                <a:solidFill>
                  <a:srgbClr val="372B43"/>
                </a:solidFill>
                <a:effectLst/>
                <a:uFillTx/>
                <a:latin typeface="Aptos"/>
              </a:rPr>
              <a:t>Age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Rounded Rectangle 16"/>
          <p:cNvSpPr/>
          <p:nvPr/>
        </p:nvSpPr>
        <p:spPr>
          <a:xfrm>
            <a:off x="960120" y="2869560"/>
            <a:ext cx="2011320" cy="566640"/>
          </a:xfrm>
          <a:custGeom>
            <a:avLst/>
            <a:gdLst>
              <a:gd name="textAreaLeft" fmla="*/ 27360 w 2011320"/>
              <a:gd name="textAreaRight" fmla="*/ 1983960 w 2011320"/>
              <a:gd name="textAreaTop" fmla="*/ 27360 h 566640"/>
              <a:gd name="textAreaBottom" fmla="*/ 539280 h 566640"/>
            </a:gdLst>
            <a:ahLst/>
            <a:cxnLst/>
            <a:rect l="textAreaLeft" t="textAreaTop" r="textAreaRight" b="textAreaBottom"/>
            <a:pathLst>
              <a:path w="76635" h="21600">
                <a:moveTo>
                  <a:pt x="3600" y="0"/>
                </a:moveTo>
                <a:arcTo wR="3600" hR="3600" stAng="16200000" swAng="-5400000"/>
                <a:lnTo>
                  <a:pt x="0" y="18000"/>
                </a:lnTo>
                <a:arcTo wR="3600" hR="3600" stAng="10800000" swAng="-5400000"/>
                <a:lnTo>
                  <a:pt x="73035" y="21600"/>
                </a:lnTo>
                <a:arcTo wR="3600" hR="3600" stAng="5400000" swAng="-5400000"/>
                <a:lnTo>
                  <a:pt x="76635" y="3600"/>
                </a:lnTo>
                <a:arcTo wR="3600" hR="3600" stAng="0" swAng="-5400000"/>
                <a:close/>
              </a:path>
            </a:pathLst>
          </a:custGeom>
          <a:solidFill>
            <a:srgbClr val="F1EAF8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Box 17"/>
          <p:cNvSpPr/>
          <p:nvPr/>
        </p:nvSpPr>
        <p:spPr>
          <a:xfrm>
            <a:off x="1033200" y="3053520"/>
            <a:ext cx="1865160" cy="2581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1100" b="1" u="none" strike="noStrike">
                <a:solidFill>
                  <a:srgbClr val="372B43"/>
                </a:solidFill>
                <a:effectLst/>
                <a:uFillTx/>
                <a:latin typeface="Aptos"/>
              </a:rPr>
              <a:t>Geography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Rounded Rectangle 18"/>
          <p:cNvSpPr/>
          <p:nvPr/>
        </p:nvSpPr>
        <p:spPr>
          <a:xfrm>
            <a:off x="3318120" y="2869560"/>
            <a:ext cx="2011320" cy="566640"/>
          </a:xfrm>
          <a:custGeom>
            <a:avLst/>
            <a:gdLst>
              <a:gd name="textAreaLeft" fmla="*/ 27360 w 2011320"/>
              <a:gd name="textAreaRight" fmla="*/ 1983960 w 2011320"/>
              <a:gd name="textAreaTop" fmla="*/ 27360 h 566640"/>
              <a:gd name="textAreaBottom" fmla="*/ 539280 h 566640"/>
            </a:gdLst>
            <a:ahLst/>
            <a:cxnLst/>
            <a:rect l="textAreaLeft" t="textAreaTop" r="textAreaRight" b="textAreaBottom"/>
            <a:pathLst>
              <a:path w="76635" h="21600">
                <a:moveTo>
                  <a:pt x="3600" y="0"/>
                </a:moveTo>
                <a:arcTo wR="3600" hR="3600" stAng="16200000" swAng="-5400000"/>
                <a:lnTo>
                  <a:pt x="0" y="18000"/>
                </a:lnTo>
                <a:arcTo wR="3600" hR="3600" stAng="10800000" swAng="-5400000"/>
                <a:lnTo>
                  <a:pt x="73035" y="21600"/>
                </a:lnTo>
                <a:arcTo wR="3600" hR="3600" stAng="5400000" swAng="-5400000"/>
                <a:lnTo>
                  <a:pt x="76635" y="3600"/>
                </a:lnTo>
                <a:arcTo wR="3600" hR="3600" stAng="0" swAng="-5400000"/>
                <a:close/>
              </a:path>
            </a:pathLst>
          </a:custGeom>
          <a:solidFill>
            <a:srgbClr val="F1EAF8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Box 19"/>
          <p:cNvSpPr/>
          <p:nvPr/>
        </p:nvSpPr>
        <p:spPr>
          <a:xfrm>
            <a:off x="3391200" y="3053520"/>
            <a:ext cx="1865160" cy="2581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1100" b="1" u="none" strike="noStrike">
                <a:solidFill>
                  <a:srgbClr val="372B43"/>
                </a:solidFill>
                <a:effectLst/>
                <a:uFillTx/>
                <a:latin typeface="Aptos"/>
              </a:rPr>
              <a:t>Balance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Rounded Rectangle 20"/>
          <p:cNvSpPr/>
          <p:nvPr/>
        </p:nvSpPr>
        <p:spPr>
          <a:xfrm>
            <a:off x="960120" y="3709800"/>
            <a:ext cx="2011320" cy="566640"/>
          </a:xfrm>
          <a:custGeom>
            <a:avLst/>
            <a:gdLst>
              <a:gd name="textAreaLeft" fmla="*/ 27360 w 2011320"/>
              <a:gd name="textAreaRight" fmla="*/ 1983960 w 2011320"/>
              <a:gd name="textAreaTop" fmla="*/ 27360 h 566640"/>
              <a:gd name="textAreaBottom" fmla="*/ 539280 h 566640"/>
            </a:gdLst>
            <a:ahLst/>
            <a:cxnLst/>
            <a:rect l="textAreaLeft" t="textAreaTop" r="textAreaRight" b="textAreaBottom"/>
            <a:pathLst>
              <a:path w="76635" h="21600">
                <a:moveTo>
                  <a:pt x="3600" y="0"/>
                </a:moveTo>
                <a:arcTo wR="3600" hR="3600" stAng="16200000" swAng="-5400000"/>
                <a:lnTo>
                  <a:pt x="0" y="18000"/>
                </a:lnTo>
                <a:arcTo wR="3600" hR="3600" stAng="10800000" swAng="-5400000"/>
                <a:lnTo>
                  <a:pt x="73035" y="21600"/>
                </a:lnTo>
                <a:arcTo wR="3600" hR="3600" stAng="5400000" swAng="-5400000"/>
                <a:lnTo>
                  <a:pt x="76635" y="3600"/>
                </a:lnTo>
                <a:arcTo wR="3600" hR="3600" stAng="0" swAng="-5400000"/>
                <a:close/>
              </a:path>
            </a:pathLst>
          </a:custGeom>
          <a:solidFill>
            <a:srgbClr val="F1EAF8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Box 21"/>
          <p:cNvSpPr/>
          <p:nvPr/>
        </p:nvSpPr>
        <p:spPr>
          <a:xfrm>
            <a:off x="961200" y="3850560"/>
            <a:ext cx="1865160" cy="2581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1100" b="1" u="none" strike="noStrike">
                <a:solidFill>
                  <a:srgbClr val="372B43"/>
                </a:solidFill>
                <a:effectLst/>
                <a:uFillTx/>
                <a:latin typeface="Aptos"/>
              </a:rPr>
              <a:t>Products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Rounded Rectangle 22"/>
          <p:cNvSpPr/>
          <p:nvPr/>
        </p:nvSpPr>
        <p:spPr>
          <a:xfrm>
            <a:off x="3318120" y="3695400"/>
            <a:ext cx="2011320" cy="566640"/>
          </a:xfrm>
          <a:custGeom>
            <a:avLst/>
            <a:gdLst>
              <a:gd name="textAreaLeft" fmla="*/ 27360 w 2011320"/>
              <a:gd name="textAreaRight" fmla="*/ 1983960 w 2011320"/>
              <a:gd name="textAreaTop" fmla="*/ 27360 h 566640"/>
              <a:gd name="textAreaBottom" fmla="*/ 539280 h 566640"/>
            </a:gdLst>
            <a:ahLst/>
            <a:cxnLst/>
            <a:rect l="textAreaLeft" t="textAreaTop" r="textAreaRight" b="textAreaBottom"/>
            <a:pathLst>
              <a:path w="76635" h="21600">
                <a:moveTo>
                  <a:pt x="3600" y="0"/>
                </a:moveTo>
                <a:arcTo wR="3600" hR="3600" stAng="16200000" swAng="-5400000"/>
                <a:lnTo>
                  <a:pt x="0" y="18000"/>
                </a:lnTo>
                <a:arcTo wR="3600" hR="3600" stAng="10800000" swAng="-5400000"/>
                <a:lnTo>
                  <a:pt x="73035" y="21600"/>
                </a:lnTo>
                <a:arcTo wR="3600" hR="3600" stAng="5400000" swAng="-5400000"/>
                <a:lnTo>
                  <a:pt x="76635" y="3600"/>
                </a:lnTo>
                <a:arcTo wR="3600" hR="3600" stAng="0" swAng="-5400000"/>
                <a:close/>
              </a:path>
            </a:pathLst>
          </a:custGeom>
          <a:solidFill>
            <a:srgbClr val="F1EAF8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Box 23"/>
          <p:cNvSpPr/>
          <p:nvPr/>
        </p:nvSpPr>
        <p:spPr>
          <a:xfrm>
            <a:off x="3391200" y="3879000"/>
            <a:ext cx="1865160" cy="2581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1100" b="1" u="none" strike="noStrike">
                <a:solidFill>
                  <a:srgbClr val="372B43"/>
                </a:solidFill>
                <a:effectLst/>
                <a:uFillTx/>
                <a:latin typeface="Aptos"/>
              </a:rPr>
              <a:t>Active Member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85" name="Connector 24"/>
          <p:cNvCxnSpPr/>
          <p:nvPr/>
        </p:nvCxnSpPr>
        <p:spPr>
          <a:xfrm>
            <a:off x="5806440" y="3748680"/>
            <a:ext cx="823680" cy="720"/>
          </a:xfrm>
          <a:prstGeom prst="straightConnector1">
            <a:avLst/>
          </a:prstGeom>
          <a:ln w="9360">
            <a:solidFill>
              <a:srgbClr val="704C91"/>
            </a:solidFill>
            <a:round/>
          </a:ln>
        </p:spPr>
      </p:cxnSp>
      <p:sp>
        <p:nvSpPr>
          <p:cNvPr id="286" name="Rounded Rectangle 25"/>
          <p:cNvSpPr/>
          <p:nvPr/>
        </p:nvSpPr>
        <p:spPr>
          <a:xfrm>
            <a:off x="6720840" y="2331720"/>
            <a:ext cx="4480200" cy="2834280"/>
          </a:xfrm>
          <a:custGeom>
            <a:avLst/>
            <a:gdLst>
              <a:gd name="textAreaLeft" fmla="*/ 138240 w 4480200"/>
              <a:gd name="textAreaRight" fmla="*/ 4341960 w 4480200"/>
              <a:gd name="textAreaTop" fmla="*/ 138240 h 2834280"/>
              <a:gd name="textAreaBottom" fmla="*/ 2696040 h 2834280"/>
            </a:gdLst>
            <a:ahLst/>
            <a:cxnLst/>
            <a:rect l="textAreaLeft" t="textAreaTop" r="textAreaRight" b="textAreaBottom"/>
            <a:pathLst>
              <a:path w="34142" h="21600">
                <a:moveTo>
                  <a:pt x="3600" y="0"/>
                </a:moveTo>
                <a:arcTo wR="3600" hR="3600" stAng="16200000" swAng="-5400000"/>
                <a:lnTo>
                  <a:pt x="0" y="18000"/>
                </a:lnTo>
                <a:arcTo wR="3600" hR="3600" stAng="10800000" swAng="-5400000"/>
                <a:lnTo>
                  <a:pt x="30542" y="21600"/>
                </a:lnTo>
                <a:arcTo wR="3600" hR="3600" stAng="5400000" swAng="-5400000"/>
                <a:lnTo>
                  <a:pt x="34142" y="3600"/>
                </a:lnTo>
                <a:arcTo wR="3600" hR="3600" stAng="0" swAng="-5400000"/>
                <a:close/>
              </a:path>
            </a:pathLst>
          </a:custGeom>
          <a:solidFill>
            <a:srgbClr val="F1EAF8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Box 26"/>
          <p:cNvSpPr/>
          <p:nvPr/>
        </p:nvSpPr>
        <p:spPr>
          <a:xfrm>
            <a:off x="7040880" y="2675160"/>
            <a:ext cx="3840120" cy="3189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1500" b="1" u="none" strike="noStrike">
                <a:solidFill>
                  <a:srgbClr val="704C91"/>
                </a:solidFill>
                <a:effectLst/>
                <a:uFillTx/>
                <a:latin typeface="Aptos"/>
              </a:rPr>
              <a:t>MODEL OUTPUT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Box 27"/>
          <p:cNvSpPr/>
          <p:nvPr/>
        </p:nvSpPr>
        <p:spPr>
          <a:xfrm>
            <a:off x="7040880" y="3261960"/>
            <a:ext cx="3840120" cy="471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2500" b="1" u="none" strike="noStrike">
                <a:solidFill>
                  <a:srgbClr val="372B43"/>
                </a:solidFill>
                <a:effectLst/>
                <a:uFillTx/>
                <a:latin typeface="Aptos"/>
              </a:rPr>
              <a:t>CHURN: YES / NO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Box 28"/>
          <p:cNvSpPr/>
          <p:nvPr/>
        </p:nvSpPr>
        <p:spPr>
          <a:xfrm>
            <a:off x="7040880" y="3985560"/>
            <a:ext cx="3840120" cy="3495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1700" b="1" u="none" strike="noStrike">
                <a:solidFill>
                  <a:srgbClr val="704C91"/>
                </a:solidFill>
                <a:effectLst/>
                <a:uFillTx/>
                <a:latin typeface="Aptos"/>
              </a:rPr>
              <a:t>Probability: --%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Box 29"/>
          <p:cNvSpPr/>
          <p:nvPr/>
        </p:nvSpPr>
        <p:spPr>
          <a:xfrm>
            <a:off x="7040880" y="4549680"/>
            <a:ext cx="3840120" cy="273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1200" b="0" u="none" strike="noStrike">
                <a:solidFill>
                  <a:srgbClr val="372B43"/>
                </a:solidFill>
                <a:effectLst/>
                <a:uFillTx/>
                <a:latin typeface="Aptos"/>
              </a:rPr>
              <a:t>Risk level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Rounded Rectangle 20"/>
          <p:cNvSpPr/>
          <p:nvPr/>
        </p:nvSpPr>
        <p:spPr>
          <a:xfrm>
            <a:off x="3389760" y="5449320"/>
            <a:ext cx="2011320" cy="566640"/>
          </a:xfrm>
          <a:custGeom>
            <a:avLst/>
            <a:gdLst>
              <a:gd name="textAreaLeft" fmla="*/ 27360 w 2011320"/>
              <a:gd name="textAreaRight" fmla="*/ 1983960 w 2011320"/>
              <a:gd name="textAreaTop" fmla="*/ 27360 h 566640"/>
              <a:gd name="textAreaBottom" fmla="*/ 539280 h 566640"/>
            </a:gdLst>
            <a:ahLst/>
            <a:cxnLst/>
            <a:rect l="textAreaLeft" t="textAreaTop" r="textAreaRight" b="textAreaBottom"/>
            <a:pathLst>
              <a:path w="76635" h="21600">
                <a:moveTo>
                  <a:pt x="3600" y="0"/>
                </a:moveTo>
                <a:arcTo wR="3600" hR="3600" stAng="16200000" swAng="-5400000"/>
                <a:lnTo>
                  <a:pt x="0" y="18000"/>
                </a:lnTo>
                <a:arcTo wR="3600" hR="3600" stAng="10800000" swAng="-5400000"/>
                <a:lnTo>
                  <a:pt x="73035" y="21600"/>
                </a:lnTo>
                <a:arcTo wR="3600" hR="3600" stAng="5400000" swAng="-5400000"/>
                <a:lnTo>
                  <a:pt x="76635" y="3600"/>
                </a:lnTo>
                <a:arcTo wR="3600" hR="3600" stAng="0" swAng="-5400000"/>
                <a:close/>
              </a:path>
            </a:pathLst>
          </a:custGeom>
          <a:solidFill>
            <a:srgbClr val="F1EAF8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Rounded Rectangle 20"/>
          <p:cNvSpPr/>
          <p:nvPr/>
        </p:nvSpPr>
        <p:spPr>
          <a:xfrm>
            <a:off x="1032120" y="5449320"/>
            <a:ext cx="2011320" cy="566640"/>
          </a:xfrm>
          <a:custGeom>
            <a:avLst/>
            <a:gdLst>
              <a:gd name="textAreaLeft" fmla="*/ 27360 w 2011320"/>
              <a:gd name="textAreaRight" fmla="*/ 1983960 w 2011320"/>
              <a:gd name="textAreaTop" fmla="*/ 27360 h 566640"/>
              <a:gd name="textAreaBottom" fmla="*/ 539280 h 566640"/>
            </a:gdLst>
            <a:ahLst/>
            <a:cxnLst/>
            <a:rect l="textAreaLeft" t="textAreaTop" r="textAreaRight" b="textAreaBottom"/>
            <a:pathLst>
              <a:path w="76635" h="21600">
                <a:moveTo>
                  <a:pt x="3600" y="0"/>
                </a:moveTo>
                <a:arcTo wR="3600" hR="3600" stAng="16200000" swAng="-5400000"/>
                <a:lnTo>
                  <a:pt x="0" y="18000"/>
                </a:lnTo>
                <a:arcTo wR="3600" hR="3600" stAng="10800000" swAng="-5400000"/>
                <a:lnTo>
                  <a:pt x="73035" y="21600"/>
                </a:lnTo>
                <a:arcTo wR="3600" hR="3600" stAng="5400000" swAng="-5400000"/>
                <a:lnTo>
                  <a:pt x="76635" y="3600"/>
                </a:lnTo>
                <a:arcTo wR="3600" hR="3600" stAng="0" swAng="-5400000"/>
                <a:close/>
              </a:path>
            </a:pathLst>
          </a:custGeom>
          <a:solidFill>
            <a:srgbClr val="F1EAF8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Rounded Rectangle 20"/>
          <p:cNvSpPr/>
          <p:nvPr/>
        </p:nvSpPr>
        <p:spPr>
          <a:xfrm>
            <a:off x="1003320" y="4529160"/>
            <a:ext cx="2011320" cy="566640"/>
          </a:xfrm>
          <a:custGeom>
            <a:avLst/>
            <a:gdLst>
              <a:gd name="textAreaLeft" fmla="*/ 27360 w 2011320"/>
              <a:gd name="textAreaRight" fmla="*/ 1983960 w 2011320"/>
              <a:gd name="textAreaTop" fmla="*/ 27360 h 566640"/>
              <a:gd name="textAreaBottom" fmla="*/ 539280 h 566640"/>
            </a:gdLst>
            <a:ahLst/>
            <a:cxnLst/>
            <a:rect l="textAreaLeft" t="textAreaTop" r="textAreaRight" b="textAreaBottom"/>
            <a:pathLst>
              <a:path w="76635" h="21600">
                <a:moveTo>
                  <a:pt x="3600" y="0"/>
                </a:moveTo>
                <a:arcTo wR="3600" hR="3600" stAng="16200000" swAng="-5400000"/>
                <a:lnTo>
                  <a:pt x="0" y="18000"/>
                </a:lnTo>
                <a:arcTo wR="3600" hR="3600" stAng="10800000" swAng="-5400000"/>
                <a:lnTo>
                  <a:pt x="73035" y="21600"/>
                </a:lnTo>
                <a:arcTo wR="3600" hR="3600" stAng="5400000" swAng="-5400000"/>
                <a:lnTo>
                  <a:pt x="76635" y="3600"/>
                </a:lnTo>
                <a:arcTo wR="3600" hR="3600" stAng="0" swAng="-5400000"/>
                <a:close/>
              </a:path>
            </a:pathLst>
          </a:custGeom>
          <a:solidFill>
            <a:srgbClr val="F1EAF8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Rounded Rectangle 20"/>
          <p:cNvSpPr/>
          <p:nvPr/>
        </p:nvSpPr>
        <p:spPr>
          <a:xfrm>
            <a:off x="3389760" y="4529160"/>
            <a:ext cx="2011320" cy="566640"/>
          </a:xfrm>
          <a:custGeom>
            <a:avLst/>
            <a:gdLst>
              <a:gd name="textAreaLeft" fmla="*/ 27360 w 2011320"/>
              <a:gd name="textAreaRight" fmla="*/ 1983960 w 2011320"/>
              <a:gd name="textAreaTop" fmla="*/ 27360 h 566640"/>
              <a:gd name="textAreaBottom" fmla="*/ 539280 h 566640"/>
            </a:gdLst>
            <a:ahLst/>
            <a:cxnLst/>
            <a:rect l="textAreaLeft" t="textAreaTop" r="textAreaRight" b="textAreaBottom"/>
            <a:pathLst>
              <a:path w="76635" h="21600">
                <a:moveTo>
                  <a:pt x="3600" y="0"/>
                </a:moveTo>
                <a:arcTo wR="3600" hR="3600" stAng="16200000" swAng="-5400000"/>
                <a:lnTo>
                  <a:pt x="0" y="18000"/>
                </a:lnTo>
                <a:arcTo wR="3600" hR="3600" stAng="10800000" swAng="-5400000"/>
                <a:lnTo>
                  <a:pt x="73035" y="21600"/>
                </a:lnTo>
                <a:arcTo wR="3600" hR="3600" stAng="5400000" swAng="-5400000"/>
                <a:lnTo>
                  <a:pt x="76635" y="3600"/>
                </a:lnTo>
                <a:arcTo wR="3600" hR="3600" stAng="0" swAng="-5400000"/>
                <a:close/>
              </a:path>
            </a:pathLst>
          </a:custGeom>
          <a:solidFill>
            <a:srgbClr val="F1EAF8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Box 21"/>
          <p:cNvSpPr/>
          <p:nvPr/>
        </p:nvSpPr>
        <p:spPr>
          <a:xfrm>
            <a:off x="1033200" y="5604480"/>
            <a:ext cx="1865160" cy="2581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1100" b="1" u="none" strike="noStrike">
                <a:solidFill>
                  <a:srgbClr val="372B43"/>
                </a:solidFill>
                <a:effectLst/>
                <a:uFillTx/>
                <a:latin typeface="Aptos"/>
              </a:rPr>
              <a:t>Tenure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Box 21"/>
          <p:cNvSpPr/>
          <p:nvPr/>
        </p:nvSpPr>
        <p:spPr>
          <a:xfrm>
            <a:off x="3333600" y="4684320"/>
            <a:ext cx="1865160" cy="2581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1100" b="1" u="none" strike="noStrike">
                <a:solidFill>
                  <a:srgbClr val="372B43"/>
                </a:solidFill>
                <a:effectLst/>
                <a:uFillTx/>
                <a:latin typeface="Aptos"/>
              </a:rPr>
              <a:t>Gender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Box 21"/>
          <p:cNvSpPr/>
          <p:nvPr/>
        </p:nvSpPr>
        <p:spPr>
          <a:xfrm>
            <a:off x="3391200" y="5604480"/>
            <a:ext cx="1865160" cy="2581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1100" b="1" u="none" strike="noStrike">
                <a:solidFill>
                  <a:srgbClr val="372B43"/>
                </a:solidFill>
                <a:effectLst/>
                <a:uFillTx/>
                <a:latin typeface="Aptos"/>
              </a:rPr>
              <a:t>Estimated Salary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Box 21"/>
          <p:cNvSpPr/>
          <p:nvPr/>
        </p:nvSpPr>
        <p:spPr>
          <a:xfrm>
            <a:off x="1004400" y="4684320"/>
            <a:ext cx="1865160" cy="2581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1100" b="1" u="none" strike="noStrike">
                <a:solidFill>
                  <a:srgbClr val="372B43"/>
                </a:solidFill>
                <a:effectLst/>
                <a:uFillTx/>
                <a:latin typeface="Aptos"/>
              </a:rPr>
              <a:t>Has Credit Card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Rectangle 1"/>
          <p:cNvSpPr/>
          <p:nvPr/>
        </p:nvSpPr>
        <p:spPr>
          <a:xfrm>
            <a:off x="0" y="0"/>
            <a:ext cx="12191400" cy="145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E1D2F2"/>
          </a:solidFill>
          <a:ln w="9360">
            <a:solidFill>
              <a:srgbClr val="E1D2F2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Rectangle 2"/>
          <p:cNvSpPr/>
          <p:nvPr/>
        </p:nvSpPr>
        <p:spPr>
          <a:xfrm>
            <a:off x="0" y="6711840"/>
            <a:ext cx="12191400" cy="145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1EAF8"/>
          </a:solidFill>
          <a:ln w="9360">
            <a:solidFill>
              <a:srgbClr val="F1EAF8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01" name="Connector 3"/>
          <p:cNvCxnSpPr/>
          <p:nvPr/>
        </p:nvCxnSpPr>
        <p:spPr>
          <a:xfrm>
            <a:off x="11667600" y="594000"/>
            <a:ext cx="720" cy="412560"/>
          </a:xfrm>
          <a:prstGeom prst="straightConnector1">
            <a:avLst/>
          </a:prstGeom>
          <a:ln w="9360">
            <a:solidFill>
              <a:srgbClr val="7E9A7E"/>
            </a:solidFill>
            <a:round/>
          </a:ln>
        </p:spPr>
      </p:cxnSp>
      <p:sp>
        <p:nvSpPr>
          <p:cNvPr id="302" name="Oval 4"/>
          <p:cNvSpPr/>
          <p:nvPr/>
        </p:nvSpPr>
        <p:spPr>
          <a:xfrm>
            <a:off x="11475720" y="320040"/>
            <a:ext cx="164160" cy="273960"/>
          </a:xfrm>
          <a:custGeom>
            <a:avLst/>
            <a:gdLst>
              <a:gd name="textAreaLeft" fmla="*/ 23760 w 164160"/>
              <a:gd name="textAreaRight" fmla="*/ 140400 w 164160"/>
              <a:gd name="textAreaTop" fmla="*/ 39960 h 273960"/>
              <a:gd name="textAreaBottom" fmla="*/ 234000 h 273960"/>
            </a:gdLst>
            <a:ahLst/>
            <a:cxnLst/>
            <a:rect l="textAreaLeft" t="textAreaTop" r="textAreaRight" b="textAreaBottom"/>
            <a:pathLst>
              <a:path w="21600" h="36016">
                <a:moveTo>
                  <a:pt x="0" y="18008"/>
                </a:moveTo>
                <a:lnTo>
                  <a:pt x="0" y="18008"/>
                </a:lnTo>
                <a:arcTo wR="0" hR="0" stAng="0" swAng="0"/>
                <a:lnTo>
                  <a:pt x="0" y="18008"/>
                </a:lnTo>
                <a:arcTo wR="10800" hR="18008" stAng="-10800000" swAng="21550000"/>
                <a:close/>
              </a:path>
            </a:pathLst>
          </a:custGeom>
          <a:solidFill>
            <a:srgbClr val="704C91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Oval 5"/>
          <p:cNvSpPr/>
          <p:nvPr/>
        </p:nvSpPr>
        <p:spPr>
          <a:xfrm>
            <a:off x="11602080" y="292680"/>
            <a:ext cx="164160" cy="312480"/>
          </a:xfrm>
          <a:custGeom>
            <a:avLst/>
            <a:gdLst>
              <a:gd name="textAreaLeft" fmla="*/ 23760 w 164160"/>
              <a:gd name="textAreaRight" fmla="*/ 140400 w 164160"/>
              <a:gd name="textAreaTop" fmla="*/ 45720 h 312480"/>
              <a:gd name="textAreaBottom" fmla="*/ 266760 h 312480"/>
            </a:gdLst>
            <a:ahLst/>
            <a:cxnLst/>
            <a:rect l="textAreaLeft" t="textAreaTop" r="textAreaRight" b="textAreaBottom"/>
            <a:pathLst>
              <a:path w="21600" h="41073">
                <a:moveTo>
                  <a:pt x="0" y="20537"/>
                </a:moveTo>
                <a:lnTo>
                  <a:pt x="0" y="20537"/>
                </a:lnTo>
                <a:arcTo wR="0" hR="0" stAng="0" swAng="0"/>
                <a:lnTo>
                  <a:pt x="0" y="20537"/>
                </a:lnTo>
                <a:arcTo wR="10800" hR="20537" stAng="-10800000" swAng="21550000"/>
                <a:close/>
              </a:path>
            </a:pathLst>
          </a:custGeom>
          <a:solidFill>
            <a:srgbClr val="704C91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Oval 6"/>
          <p:cNvSpPr/>
          <p:nvPr/>
        </p:nvSpPr>
        <p:spPr>
          <a:xfrm>
            <a:off x="11728080" y="320040"/>
            <a:ext cx="164160" cy="273960"/>
          </a:xfrm>
          <a:custGeom>
            <a:avLst/>
            <a:gdLst>
              <a:gd name="textAreaLeft" fmla="*/ 23760 w 164160"/>
              <a:gd name="textAreaRight" fmla="*/ 140400 w 164160"/>
              <a:gd name="textAreaTop" fmla="*/ 39960 h 273960"/>
              <a:gd name="textAreaBottom" fmla="*/ 234000 h 273960"/>
            </a:gdLst>
            <a:ahLst/>
            <a:cxnLst/>
            <a:rect l="textAreaLeft" t="textAreaTop" r="textAreaRight" b="textAreaBottom"/>
            <a:pathLst>
              <a:path w="21600" h="36016">
                <a:moveTo>
                  <a:pt x="0" y="18008"/>
                </a:moveTo>
                <a:lnTo>
                  <a:pt x="0" y="18008"/>
                </a:lnTo>
                <a:arcTo wR="0" hR="0" stAng="0" swAng="0"/>
                <a:lnTo>
                  <a:pt x="0" y="18008"/>
                </a:lnTo>
                <a:arcTo wR="10800" hR="18008" stAng="-10800000" swAng="21550000"/>
                <a:close/>
              </a:path>
            </a:pathLst>
          </a:custGeom>
          <a:solidFill>
            <a:srgbClr val="704C91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Box 7"/>
          <p:cNvSpPr/>
          <p:nvPr/>
        </p:nvSpPr>
        <p:spPr>
          <a:xfrm>
            <a:off x="594360" y="431640"/>
            <a:ext cx="9143640" cy="5173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>
              <a:lnSpc>
                <a:spcPct val="100000"/>
              </a:lnSpc>
            </a:pPr>
            <a:r>
              <a:rPr lang="en-US" sz="2800" b="1" u="none" strike="noStrike">
                <a:solidFill>
                  <a:srgbClr val="372B43"/>
                </a:solidFill>
                <a:effectLst/>
                <a:uFillTx/>
                <a:latin typeface="Aptos"/>
              </a:rPr>
              <a:t>Retention Recommendation System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06" name="Connector 8"/>
          <p:cNvCxnSpPr/>
          <p:nvPr/>
        </p:nvCxnSpPr>
        <p:spPr>
          <a:xfrm>
            <a:off x="594360" y="987480"/>
            <a:ext cx="2286720" cy="720"/>
          </a:xfrm>
          <a:prstGeom prst="straightConnector1">
            <a:avLst/>
          </a:prstGeom>
          <a:ln w="28080">
            <a:solidFill>
              <a:srgbClr val="704C91"/>
            </a:solidFill>
            <a:round/>
          </a:ln>
        </p:spPr>
      </p:cxnSp>
      <p:pic>
        <p:nvPicPr>
          <p:cNvPr id="307" name="Picture 1"/>
          <p:cNvPicPr/>
          <p:nvPr/>
        </p:nvPicPr>
        <p:blipFill>
          <a:blip r:embed="rId1"/>
          <a:stretch/>
        </p:blipFill>
        <p:spPr>
          <a:xfrm>
            <a:off x="7651800" y="1297440"/>
            <a:ext cx="4537440" cy="3098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8" name="TextBox 2"/>
          <p:cNvSpPr txBox="1"/>
          <p:nvPr/>
        </p:nvSpPr>
        <p:spPr>
          <a:xfrm>
            <a:off x="595800" y="1371960"/>
            <a:ext cx="7226640" cy="2585160"/>
          </a:xfrm>
          <a:prstGeom prst="rect">
            <a:avLst/>
          </a:prstGeom>
          <a:noFill/>
          <a:ln w="0">
            <a:noFill/>
          </a:ln>
        </p:spPr>
        <p:txBody>
          <a:bodyPr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Churn Prediction → Risk Level → Recommendation</a:t>
            </a:r>
            <a:br>
              <a:rPr sz="1800"/>
            </a:br>
            <a:br>
              <a:rPr sz="1800"/>
            </a:b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The system uses churn probability to classify customers into risk categories: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Low Risk: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&lt; 40% 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Medium Risk: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40–69% 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High Risk: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≥ 70%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Rounded Rectangle 10"/>
          <p:cNvSpPr/>
          <p:nvPr/>
        </p:nvSpPr>
        <p:spPr>
          <a:xfrm>
            <a:off x="599400" y="3614400"/>
            <a:ext cx="2443680" cy="2907720"/>
          </a:xfrm>
          <a:custGeom>
            <a:avLst/>
            <a:gdLst>
              <a:gd name="textAreaLeft" fmla="*/ 119160 w 2443680"/>
              <a:gd name="textAreaRight" fmla="*/ 2324520 w 2443680"/>
              <a:gd name="textAreaTop" fmla="*/ 119160 h 2907720"/>
              <a:gd name="textAreaBottom" fmla="*/ 2788560 h 2907720"/>
            </a:gdLst>
            <a:ahLst/>
            <a:cxnLst/>
            <a:rect l="textAreaLeft" t="textAreaTop" r="textAreaRight" b="textAreaBottom"/>
            <a:pathLst>
              <a:path w="21600" h="25701">
                <a:moveTo>
                  <a:pt x="3600" y="0"/>
                </a:moveTo>
                <a:arcTo wR="3600" hR="3600" stAng="16200000" swAng="-5400000"/>
                <a:lnTo>
                  <a:pt x="0" y="22101"/>
                </a:lnTo>
                <a:arcTo wR="3600" hR="3600" stAng="10800000" swAng="-5400000"/>
                <a:lnTo>
                  <a:pt x="18000" y="25701"/>
                </a:lnTo>
                <a:arcTo wR="3600" hR="3600" stAng="5400000" swAng="-5400000"/>
                <a:lnTo>
                  <a:pt x="21600" y="3600"/>
                </a:lnTo>
                <a:arcTo wR="3600" hR="3600" stAng="0" swAng="-5400000"/>
                <a:close/>
              </a:path>
            </a:pathLst>
          </a:custGeom>
          <a:solidFill>
            <a:srgbClr val="F1EAF8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Rounded Rectangle 10"/>
          <p:cNvSpPr/>
          <p:nvPr/>
        </p:nvSpPr>
        <p:spPr>
          <a:xfrm>
            <a:off x="3316680" y="3614400"/>
            <a:ext cx="2443680" cy="2907720"/>
          </a:xfrm>
          <a:custGeom>
            <a:avLst/>
            <a:gdLst>
              <a:gd name="textAreaLeft" fmla="*/ 119160 w 2443680"/>
              <a:gd name="textAreaRight" fmla="*/ 2324520 w 2443680"/>
              <a:gd name="textAreaTop" fmla="*/ 119160 h 2907720"/>
              <a:gd name="textAreaBottom" fmla="*/ 2788560 h 2907720"/>
            </a:gdLst>
            <a:ahLst/>
            <a:cxnLst/>
            <a:rect l="textAreaLeft" t="textAreaTop" r="textAreaRight" b="textAreaBottom"/>
            <a:pathLst>
              <a:path w="21600" h="25701">
                <a:moveTo>
                  <a:pt x="3600" y="0"/>
                </a:moveTo>
                <a:arcTo wR="3600" hR="3600" stAng="16200000" swAng="-5400000"/>
                <a:lnTo>
                  <a:pt x="0" y="22101"/>
                </a:lnTo>
                <a:arcTo wR="3600" hR="3600" stAng="10800000" swAng="-5400000"/>
                <a:lnTo>
                  <a:pt x="18000" y="25701"/>
                </a:lnTo>
                <a:arcTo wR="3600" hR="3600" stAng="5400000" swAng="-5400000"/>
                <a:lnTo>
                  <a:pt x="21600" y="3600"/>
                </a:lnTo>
                <a:arcTo wR="3600" hR="3600" stAng="0" swAng="-5400000"/>
                <a:close/>
              </a:path>
            </a:pathLst>
          </a:custGeom>
          <a:solidFill>
            <a:srgbClr val="F1EAF8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Rounded Rectangle 10"/>
          <p:cNvSpPr/>
          <p:nvPr/>
        </p:nvSpPr>
        <p:spPr>
          <a:xfrm>
            <a:off x="6091560" y="3614400"/>
            <a:ext cx="2443680" cy="2907720"/>
          </a:xfrm>
          <a:custGeom>
            <a:avLst/>
            <a:gdLst>
              <a:gd name="textAreaLeft" fmla="*/ 119160 w 2443680"/>
              <a:gd name="textAreaRight" fmla="*/ 2324520 w 2443680"/>
              <a:gd name="textAreaTop" fmla="*/ 119160 h 2907720"/>
              <a:gd name="textAreaBottom" fmla="*/ 2788560 h 2907720"/>
            </a:gdLst>
            <a:ahLst/>
            <a:cxnLst/>
            <a:rect l="textAreaLeft" t="textAreaTop" r="textAreaRight" b="textAreaBottom"/>
            <a:pathLst>
              <a:path w="21600" h="25701">
                <a:moveTo>
                  <a:pt x="3600" y="0"/>
                </a:moveTo>
                <a:arcTo wR="3600" hR="3600" stAng="16200000" swAng="-5400000"/>
                <a:lnTo>
                  <a:pt x="0" y="22101"/>
                </a:lnTo>
                <a:arcTo wR="3600" hR="3600" stAng="10800000" swAng="-5400000"/>
                <a:lnTo>
                  <a:pt x="18000" y="25701"/>
                </a:lnTo>
                <a:arcTo wR="3600" hR="3600" stAng="5400000" swAng="-5400000"/>
                <a:lnTo>
                  <a:pt x="21600" y="3600"/>
                </a:lnTo>
                <a:arcTo wR="3600" hR="3600" stAng="0" swAng="-5400000"/>
                <a:close/>
              </a:path>
            </a:pathLst>
          </a:custGeom>
          <a:solidFill>
            <a:srgbClr val="F1EAF8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Box 10"/>
          <p:cNvSpPr txBox="1"/>
          <p:nvPr/>
        </p:nvSpPr>
        <p:spPr>
          <a:xfrm>
            <a:off x="714960" y="3872160"/>
            <a:ext cx="2021760" cy="2835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704C91"/>
                </a:solidFill>
                <a:effectLst/>
                <a:uFillTx/>
                <a:latin typeface="Aptos"/>
              </a:rPr>
              <a:t>LOW RISK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Personalized retention offer 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Customer engagement call 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Loyalty benefits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Box 15"/>
          <p:cNvSpPr txBox="1"/>
          <p:nvPr/>
        </p:nvSpPr>
        <p:spPr>
          <a:xfrm>
            <a:off x="3436560" y="3875760"/>
            <a:ext cx="2039760" cy="2031480"/>
          </a:xfrm>
          <a:prstGeom prst="rect">
            <a:avLst/>
          </a:prstGeom>
          <a:noFill/>
          <a:ln w="0">
            <a:noFill/>
          </a:ln>
        </p:spPr>
        <p:txBody>
          <a:bodyPr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704C91"/>
                </a:solidFill>
                <a:effectLst/>
                <a:uFillTx/>
                <a:latin typeface="Aptos"/>
              </a:rPr>
              <a:t>MEDIUM RISK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Targeted offers 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Increased customer engagement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Box 16"/>
          <p:cNvSpPr txBox="1"/>
          <p:nvPr/>
        </p:nvSpPr>
        <p:spPr>
          <a:xfrm>
            <a:off x="6329160" y="3903480"/>
            <a:ext cx="2037240" cy="1754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704C91"/>
                </a:solidFill>
                <a:effectLst/>
                <a:uFillTx/>
                <a:latin typeface="Aptos"/>
              </a:rPr>
              <a:t>HIGH RISK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Continue regular customer service and engagement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Rectangle 1"/>
          <p:cNvSpPr/>
          <p:nvPr/>
        </p:nvSpPr>
        <p:spPr>
          <a:xfrm>
            <a:off x="0" y="0"/>
            <a:ext cx="12191400" cy="145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E1D2F2"/>
          </a:solidFill>
          <a:ln w="9360">
            <a:solidFill>
              <a:srgbClr val="E1D2F2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Rectangle 2"/>
          <p:cNvSpPr/>
          <p:nvPr/>
        </p:nvSpPr>
        <p:spPr>
          <a:xfrm>
            <a:off x="0" y="6711840"/>
            <a:ext cx="12191400" cy="145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1EAF8"/>
          </a:solidFill>
          <a:ln w="9360">
            <a:solidFill>
              <a:srgbClr val="F1EAF8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17" name="Connector 3"/>
          <p:cNvCxnSpPr/>
          <p:nvPr/>
        </p:nvCxnSpPr>
        <p:spPr>
          <a:xfrm>
            <a:off x="11667600" y="594000"/>
            <a:ext cx="720" cy="412560"/>
          </a:xfrm>
          <a:prstGeom prst="straightConnector1">
            <a:avLst/>
          </a:prstGeom>
          <a:ln w="9360">
            <a:solidFill>
              <a:srgbClr val="7E9A7E"/>
            </a:solidFill>
            <a:round/>
          </a:ln>
        </p:spPr>
      </p:cxnSp>
      <p:sp>
        <p:nvSpPr>
          <p:cNvPr id="318" name="Oval 4"/>
          <p:cNvSpPr/>
          <p:nvPr/>
        </p:nvSpPr>
        <p:spPr>
          <a:xfrm>
            <a:off x="11475720" y="320040"/>
            <a:ext cx="164160" cy="273960"/>
          </a:xfrm>
          <a:custGeom>
            <a:avLst/>
            <a:gdLst>
              <a:gd name="textAreaLeft" fmla="*/ 23760 w 164160"/>
              <a:gd name="textAreaRight" fmla="*/ 140400 w 164160"/>
              <a:gd name="textAreaTop" fmla="*/ 39960 h 273960"/>
              <a:gd name="textAreaBottom" fmla="*/ 234000 h 273960"/>
            </a:gdLst>
            <a:ahLst/>
            <a:cxnLst/>
            <a:rect l="textAreaLeft" t="textAreaTop" r="textAreaRight" b="textAreaBottom"/>
            <a:pathLst>
              <a:path w="21600" h="36016">
                <a:moveTo>
                  <a:pt x="0" y="18008"/>
                </a:moveTo>
                <a:lnTo>
                  <a:pt x="0" y="18008"/>
                </a:lnTo>
                <a:arcTo wR="0" hR="0" stAng="0" swAng="0"/>
                <a:lnTo>
                  <a:pt x="0" y="18008"/>
                </a:lnTo>
                <a:arcTo wR="10800" hR="18008" stAng="-10800000" swAng="21550000"/>
                <a:close/>
              </a:path>
            </a:pathLst>
          </a:custGeom>
          <a:solidFill>
            <a:srgbClr val="704C91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Oval 5"/>
          <p:cNvSpPr/>
          <p:nvPr/>
        </p:nvSpPr>
        <p:spPr>
          <a:xfrm>
            <a:off x="11602080" y="292680"/>
            <a:ext cx="164160" cy="312480"/>
          </a:xfrm>
          <a:custGeom>
            <a:avLst/>
            <a:gdLst>
              <a:gd name="textAreaLeft" fmla="*/ 23760 w 164160"/>
              <a:gd name="textAreaRight" fmla="*/ 140400 w 164160"/>
              <a:gd name="textAreaTop" fmla="*/ 45720 h 312480"/>
              <a:gd name="textAreaBottom" fmla="*/ 266760 h 312480"/>
            </a:gdLst>
            <a:ahLst/>
            <a:cxnLst/>
            <a:rect l="textAreaLeft" t="textAreaTop" r="textAreaRight" b="textAreaBottom"/>
            <a:pathLst>
              <a:path w="21600" h="41073">
                <a:moveTo>
                  <a:pt x="0" y="20537"/>
                </a:moveTo>
                <a:lnTo>
                  <a:pt x="0" y="20537"/>
                </a:lnTo>
                <a:arcTo wR="0" hR="0" stAng="0" swAng="0"/>
                <a:lnTo>
                  <a:pt x="0" y="20537"/>
                </a:lnTo>
                <a:arcTo wR="10800" hR="20537" stAng="-10800000" swAng="21550000"/>
                <a:close/>
              </a:path>
            </a:pathLst>
          </a:custGeom>
          <a:solidFill>
            <a:srgbClr val="704C91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Oval 6"/>
          <p:cNvSpPr/>
          <p:nvPr/>
        </p:nvSpPr>
        <p:spPr>
          <a:xfrm>
            <a:off x="11728080" y="320040"/>
            <a:ext cx="164160" cy="273960"/>
          </a:xfrm>
          <a:custGeom>
            <a:avLst/>
            <a:gdLst>
              <a:gd name="textAreaLeft" fmla="*/ 23760 w 164160"/>
              <a:gd name="textAreaRight" fmla="*/ 140400 w 164160"/>
              <a:gd name="textAreaTop" fmla="*/ 39960 h 273960"/>
              <a:gd name="textAreaBottom" fmla="*/ 234000 h 273960"/>
            </a:gdLst>
            <a:ahLst/>
            <a:cxnLst/>
            <a:rect l="textAreaLeft" t="textAreaTop" r="textAreaRight" b="textAreaBottom"/>
            <a:pathLst>
              <a:path w="21600" h="36016">
                <a:moveTo>
                  <a:pt x="0" y="18008"/>
                </a:moveTo>
                <a:lnTo>
                  <a:pt x="0" y="18008"/>
                </a:lnTo>
                <a:arcTo wR="0" hR="0" stAng="0" swAng="0"/>
                <a:lnTo>
                  <a:pt x="0" y="18008"/>
                </a:lnTo>
                <a:arcTo wR="10800" hR="18008" stAng="-10800000" swAng="21550000"/>
                <a:close/>
              </a:path>
            </a:pathLst>
          </a:custGeom>
          <a:solidFill>
            <a:srgbClr val="704C91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Box 7"/>
          <p:cNvSpPr/>
          <p:nvPr/>
        </p:nvSpPr>
        <p:spPr>
          <a:xfrm>
            <a:off x="594360" y="477360"/>
            <a:ext cx="9143640" cy="425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>
              <a:lnSpc>
                <a:spcPct val="100000"/>
              </a:lnSpc>
            </a:pPr>
            <a:r>
              <a:rPr lang="en-US" sz="2200" b="1" u="none" strike="noStrike">
                <a:solidFill>
                  <a:srgbClr val="372B43"/>
                </a:solidFill>
                <a:effectLst/>
                <a:uFillTx/>
                <a:latin typeface="Aptos"/>
              </a:rPr>
              <a:t>Streamlit Application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22" name="Connector 8"/>
          <p:cNvCxnSpPr/>
          <p:nvPr/>
        </p:nvCxnSpPr>
        <p:spPr>
          <a:xfrm>
            <a:off x="594360" y="987480"/>
            <a:ext cx="2286720" cy="720"/>
          </a:xfrm>
          <a:prstGeom prst="straightConnector1">
            <a:avLst/>
          </a:prstGeom>
          <a:ln w="28080">
            <a:solidFill>
              <a:srgbClr val="704C91"/>
            </a:solidFill>
            <a:round/>
          </a:ln>
        </p:spPr>
      </p:cxnSp>
      <p:sp>
        <p:nvSpPr>
          <p:cNvPr id="323" name="Rounded Rectangle 12"/>
          <p:cNvSpPr/>
          <p:nvPr/>
        </p:nvSpPr>
        <p:spPr>
          <a:xfrm>
            <a:off x="354600" y="1616040"/>
            <a:ext cx="3172680" cy="4316760"/>
          </a:xfrm>
          <a:custGeom>
            <a:avLst/>
            <a:gdLst>
              <a:gd name="textAreaLeft" fmla="*/ 154800 w 3172680"/>
              <a:gd name="textAreaRight" fmla="*/ 3017880 w 3172680"/>
              <a:gd name="textAreaTop" fmla="*/ 154800 h 4316760"/>
              <a:gd name="textAreaBottom" fmla="*/ 4161960 h 4316760"/>
            </a:gdLst>
            <a:ahLst/>
            <a:cxnLst/>
            <a:rect l="textAreaLeft" t="textAreaTop" r="textAreaRight" b="textAreaBottom"/>
            <a:pathLst>
              <a:path w="21600" h="29388">
                <a:moveTo>
                  <a:pt x="3600" y="0"/>
                </a:moveTo>
                <a:arcTo wR="3600" hR="3600" stAng="16200000" swAng="-5400000"/>
                <a:lnTo>
                  <a:pt x="0" y="25788"/>
                </a:lnTo>
                <a:arcTo wR="3600" hR="3600" stAng="10800000" swAng="-5400000"/>
                <a:lnTo>
                  <a:pt x="18000" y="29388"/>
                </a:lnTo>
                <a:arcTo wR="3600" hR="3600" stAng="5400000" swAng="-5400000"/>
                <a:lnTo>
                  <a:pt x="21600" y="3600"/>
                </a:lnTo>
                <a:arcTo wR="3600" hR="3600" stAng="0" swAng="-5400000"/>
                <a:close/>
              </a:path>
            </a:pathLst>
          </a:custGeom>
          <a:solidFill>
            <a:srgbClr val="F1EAF8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4" name="Picture 1"/>
          <p:cNvPicPr/>
          <p:nvPr/>
        </p:nvPicPr>
        <p:blipFill>
          <a:blip r:embed="rId1"/>
          <a:stretch/>
        </p:blipFill>
        <p:spPr>
          <a:xfrm>
            <a:off x="4753080" y="321840"/>
            <a:ext cx="6409800" cy="1484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5" name="Picture 2"/>
          <p:cNvPicPr/>
          <p:nvPr/>
        </p:nvPicPr>
        <p:blipFill>
          <a:blip r:embed="rId2"/>
          <a:stretch/>
        </p:blipFill>
        <p:spPr>
          <a:xfrm>
            <a:off x="4756680" y="1720080"/>
            <a:ext cx="6396120" cy="2997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6" name="Picture 3"/>
          <p:cNvPicPr/>
          <p:nvPr/>
        </p:nvPicPr>
        <p:blipFill>
          <a:blip r:embed="rId3"/>
          <a:stretch/>
        </p:blipFill>
        <p:spPr>
          <a:xfrm>
            <a:off x="4760280" y="4555800"/>
            <a:ext cx="6399360" cy="2228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7" name="TextBox 4"/>
          <p:cNvSpPr txBox="1"/>
          <p:nvPr/>
        </p:nvSpPr>
        <p:spPr>
          <a:xfrm>
            <a:off x="855360" y="2049480"/>
            <a:ext cx="2386080" cy="3445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Customer Details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       ↓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Preprocessing Pipeline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       ↓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Tuned Random Forest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       ↓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Churn Probability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       ↓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Risk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       ↓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Retention Recommendation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Rectangle 1"/>
          <p:cNvSpPr/>
          <p:nvPr/>
        </p:nvSpPr>
        <p:spPr>
          <a:xfrm>
            <a:off x="0" y="0"/>
            <a:ext cx="12191400" cy="145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E1D2F2"/>
          </a:solidFill>
          <a:ln w="9360">
            <a:solidFill>
              <a:srgbClr val="E1D2F2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Rectangle 2"/>
          <p:cNvSpPr/>
          <p:nvPr/>
        </p:nvSpPr>
        <p:spPr>
          <a:xfrm>
            <a:off x="0" y="6711840"/>
            <a:ext cx="12191400" cy="145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1EAF8"/>
          </a:solidFill>
          <a:ln w="9360">
            <a:solidFill>
              <a:srgbClr val="F1EAF8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30" name="Connector 3"/>
          <p:cNvCxnSpPr/>
          <p:nvPr/>
        </p:nvCxnSpPr>
        <p:spPr>
          <a:xfrm>
            <a:off x="11667600" y="594000"/>
            <a:ext cx="720" cy="412560"/>
          </a:xfrm>
          <a:prstGeom prst="straightConnector1">
            <a:avLst/>
          </a:prstGeom>
          <a:ln w="9360">
            <a:solidFill>
              <a:srgbClr val="7E9A7E"/>
            </a:solidFill>
            <a:round/>
          </a:ln>
        </p:spPr>
      </p:cxnSp>
      <p:sp>
        <p:nvSpPr>
          <p:cNvPr id="331" name="Oval 4"/>
          <p:cNvSpPr/>
          <p:nvPr/>
        </p:nvSpPr>
        <p:spPr>
          <a:xfrm>
            <a:off x="11475720" y="320040"/>
            <a:ext cx="164160" cy="273960"/>
          </a:xfrm>
          <a:custGeom>
            <a:avLst/>
            <a:gdLst>
              <a:gd name="textAreaLeft" fmla="*/ 23760 w 164160"/>
              <a:gd name="textAreaRight" fmla="*/ 140400 w 164160"/>
              <a:gd name="textAreaTop" fmla="*/ 39960 h 273960"/>
              <a:gd name="textAreaBottom" fmla="*/ 234000 h 273960"/>
            </a:gdLst>
            <a:ahLst/>
            <a:cxnLst/>
            <a:rect l="textAreaLeft" t="textAreaTop" r="textAreaRight" b="textAreaBottom"/>
            <a:pathLst>
              <a:path w="21600" h="36016">
                <a:moveTo>
                  <a:pt x="0" y="18008"/>
                </a:moveTo>
                <a:lnTo>
                  <a:pt x="0" y="18008"/>
                </a:lnTo>
                <a:arcTo wR="0" hR="0" stAng="0" swAng="0"/>
                <a:lnTo>
                  <a:pt x="0" y="18008"/>
                </a:lnTo>
                <a:arcTo wR="10800" hR="18008" stAng="-10800000" swAng="21550000"/>
                <a:close/>
              </a:path>
            </a:pathLst>
          </a:custGeom>
          <a:solidFill>
            <a:srgbClr val="704C91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Oval 5"/>
          <p:cNvSpPr/>
          <p:nvPr/>
        </p:nvSpPr>
        <p:spPr>
          <a:xfrm>
            <a:off x="11602080" y="292680"/>
            <a:ext cx="164160" cy="312480"/>
          </a:xfrm>
          <a:custGeom>
            <a:avLst/>
            <a:gdLst>
              <a:gd name="textAreaLeft" fmla="*/ 23760 w 164160"/>
              <a:gd name="textAreaRight" fmla="*/ 140400 w 164160"/>
              <a:gd name="textAreaTop" fmla="*/ 45720 h 312480"/>
              <a:gd name="textAreaBottom" fmla="*/ 266760 h 312480"/>
            </a:gdLst>
            <a:ahLst/>
            <a:cxnLst/>
            <a:rect l="textAreaLeft" t="textAreaTop" r="textAreaRight" b="textAreaBottom"/>
            <a:pathLst>
              <a:path w="21600" h="41073">
                <a:moveTo>
                  <a:pt x="0" y="20537"/>
                </a:moveTo>
                <a:lnTo>
                  <a:pt x="0" y="20537"/>
                </a:lnTo>
                <a:arcTo wR="0" hR="0" stAng="0" swAng="0"/>
                <a:lnTo>
                  <a:pt x="0" y="20537"/>
                </a:lnTo>
                <a:arcTo wR="10800" hR="20537" stAng="-10800000" swAng="21550000"/>
                <a:close/>
              </a:path>
            </a:pathLst>
          </a:custGeom>
          <a:solidFill>
            <a:srgbClr val="704C91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Oval 6"/>
          <p:cNvSpPr/>
          <p:nvPr/>
        </p:nvSpPr>
        <p:spPr>
          <a:xfrm>
            <a:off x="11728080" y="320040"/>
            <a:ext cx="164160" cy="273960"/>
          </a:xfrm>
          <a:custGeom>
            <a:avLst/>
            <a:gdLst>
              <a:gd name="textAreaLeft" fmla="*/ 23760 w 164160"/>
              <a:gd name="textAreaRight" fmla="*/ 140400 w 164160"/>
              <a:gd name="textAreaTop" fmla="*/ 39960 h 273960"/>
              <a:gd name="textAreaBottom" fmla="*/ 234000 h 273960"/>
            </a:gdLst>
            <a:ahLst/>
            <a:cxnLst/>
            <a:rect l="textAreaLeft" t="textAreaTop" r="textAreaRight" b="textAreaBottom"/>
            <a:pathLst>
              <a:path w="21600" h="36016">
                <a:moveTo>
                  <a:pt x="0" y="18008"/>
                </a:moveTo>
                <a:lnTo>
                  <a:pt x="0" y="18008"/>
                </a:lnTo>
                <a:arcTo wR="0" hR="0" stAng="0" swAng="0"/>
                <a:lnTo>
                  <a:pt x="0" y="18008"/>
                </a:lnTo>
                <a:arcTo wR="10800" hR="18008" stAng="-10800000" swAng="21550000"/>
                <a:close/>
              </a:path>
            </a:pathLst>
          </a:custGeom>
          <a:solidFill>
            <a:srgbClr val="704C91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Box 7"/>
          <p:cNvSpPr/>
          <p:nvPr/>
        </p:nvSpPr>
        <p:spPr>
          <a:xfrm>
            <a:off x="594360" y="431640"/>
            <a:ext cx="9143640" cy="5173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>
              <a:lnSpc>
                <a:spcPct val="100000"/>
              </a:lnSpc>
            </a:pPr>
            <a:r>
              <a:rPr lang="en-US" sz="2800" b="1" u="none" strike="noStrike">
                <a:solidFill>
                  <a:srgbClr val="372B43"/>
                </a:solidFill>
                <a:effectLst/>
                <a:uFillTx/>
                <a:latin typeface="Aptos"/>
              </a:rPr>
              <a:t>Results &amp; Conclusion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35" name="Connector 8"/>
          <p:cNvCxnSpPr/>
          <p:nvPr/>
        </p:nvCxnSpPr>
        <p:spPr>
          <a:xfrm>
            <a:off x="594360" y="987480"/>
            <a:ext cx="2286720" cy="720"/>
          </a:xfrm>
          <a:prstGeom prst="straightConnector1">
            <a:avLst/>
          </a:prstGeom>
          <a:ln w="28080">
            <a:solidFill>
              <a:srgbClr val="704C91"/>
            </a:solidFill>
            <a:round/>
          </a:ln>
        </p:spPr>
      </p:cxnSp>
      <p:sp>
        <p:nvSpPr>
          <p:cNvPr id="336" name="Rounded Rectangle 10"/>
          <p:cNvSpPr/>
          <p:nvPr/>
        </p:nvSpPr>
        <p:spPr>
          <a:xfrm>
            <a:off x="685800" y="1417320"/>
            <a:ext cx="6629040" cy="4525920"/>
          </a:xfrm>
          <a:custGeom>
            <a:avLst/>
            <a:gdLst>
              <a:gd name="textAreaLeft" fmla="*/ 220680 w 6629040"/>
              <a:gd name="textAreaRight" fmla="*/ 6408360 w 6629040"/>
              <a:gd name="textAreaTop" fmla="*/ 220680 h 4525920"/>
              <a:gd name="textAreaBottom" fmla="*/ 4305240 h 4525920"/>
            </a:gdLst>
            <a:ahLst/>
            <a:cxnLst/>
            <a:rect l="textAreaLeft" t="textAreaTop" r="textAreaRight" b="textAreaBottom"/>
            <a:pathLst>
              <a:path w="31636" h="21600">
                <a:moveTo>
                  <a:pt x="3600" y="0"/>
                </a:moveTo>
                <a:arcTo wR="3600" hR="3600" stAng="16200000" swAng="-5400000"/>
                <a:lnTo>
                  <a:pt x="0" y="18000"/>
                </a:lnTo>
                <a:arcTo wR="3600" hR="3600" stAng="10800000" swAng="-5400000"/>
                <a:lnTo>
                  <a:pt x="28036" y="21600"/>
                </a:lnTo>
                <a:arcTo wR="3600" hR="3600" stAng="5400000" swAng="-5400000"/>
                <a:lnTo>
                  <a:pt x="31636" y="3600"/>
                </a:lnTo>
                <a:arcTo wR="3600" hR="3600" stAng="0" swAng="-5400000"/>
                <a:close/>
              </a:path>
            </a:pathLst>
          </a:custGeom>
          <a:solidFill>
            <a:srgbClr val="F1EAF8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Box 12"/>
          <p:cNvSpPr/>
          <p:nvPr/>
        </p:nvSpPr>
        <p:spPr>
          <a:xfrm>
            <a:off x="1149480" y="1720800"/>
            <a:ext cx="5714640" cy="44146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Conclusion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 Developed an end-to-end bank customer churn prediction system. 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Performed data cleaning, EDA, preprocessing, model training, and tuning. 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Selected Tuned Random Forest as the final model. 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Achieved 75% recall and 78% ROC-AUC. 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The system focuses on identifying potential churners. 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Added a retention recommendation component to support business decision-making. 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Developed an interactive Streamlit interface. 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</a:pP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Rounded Rectangle 13"/>
          <p:cNvSpPr/>
          <p:nvPr/>
        </p:nvSpPr>
        <p:spPr>
          <a:xfrm>
            <a:off x="7798680" y="1417320"/>
            <a:ext cx="3748680" cy="4525920"/>
          </a:xfrm>
          <a:custGeom>
            <a:avLst/>
            <a:gdLst>
              <a:gd name="textAreaLeft" fmla="*/ 182880 w 3748680"/>
              <a:gd name="textAreaRight" fmla="*/ 3565800 w 3748680"/>
              <a:gd name="textAreaTop" fmla="*/ 182880 h 4525920"/>
              <a:gd name="textAreaBottom" fmla="*/ 4343040 h 4525920"/>
            </a:gdLst>
            <a:ahLst/>
            <a:cxnLst/>
            <a:rect l="textAreaLeft" t="textAreaTop" r="textAreaRight" b="textAreaBottom"/>
            <a:pathLst>
              <a:path w="21600" h="26078">
                <a:moveTo>
                  <a:pt x="3600" y="0"/>
                </a:moveTo>
                <a:arcTo wR="3600" hR="3600" stAng="16200000" swAng="-5400000"/>
                <a:lnTo>
                  <a:pt x="0" y="22478"/>
                </a:lnTo>
                <a:arcTo wR="3600" hR="3600" stAng="10800000" swAng="-5400000"/>
                <a:lnTo>
                  <a:pt x="18000" y="26078"/>
                </a:lnTo>
                <a:arcTo wR="3600" hR="3600" stAng="5400000" swAng="-5400000"/>
                <a:lnTo>
                  <a:pt x="21600" y="3600"/>
                </a:lnTo>
                <a:arcTo wR="3600" hR="3600" stAng="0" swAng="-5400000"/>
                <a:close/>
              </a:path>
            </a:pathLst>
          </a:custGeom>
          <a:solidFill>
            <a:srgbClr val="FFFFFF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Box 14"/>
          <p:cNvSpPr/>
          <p:nvPr/>
        </p:nvSpPr>
        <p:spPr>
          <a:xfrm>
            <a:off x="8046720" y="1904040"/>
            <a:ext cx="3108600" cy="306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sp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Box 15"/>
          <p:cNvSpPr/>
          <p:nvPr/>
        </p:nvSpPr>
        <p:spPr>
          <a:xfrm>
            <a:off x="8046720" y="2644920"/>
            <a:ext cx="3108600" cy="7909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2300" b="1" u="none" strike="noStrike">
                <a:solidFill>
                  <a:srgbClr val="372B43"/>
                </a:solidFill>
                <a:effectLst/>
                <a:uFillTx/>
                <a:latin typeface="Aptos"/>
              </a:rPr>
              <a:t>Predict → Understand → Act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41" name="Connector 16"/>
          <p:cNvCxnSpPr/>
          <p:nvPr/>
        </p:nvCxnSpPr>
        <p:spPr>
          <a:xfrm>
            <a:off x="9543960" y="4640400"/>
            <a:ext cx="720" cy="857880"/>
          </a:xfrm>
          <a:prstGeom prst="straightConnector1">
            <a:avLst/>
          </a:prstGeom>
          <a:ln w="9360">
            <a:solidFill>
              <a:srgbClr val="7E9A7E"/>
            </a:solidFill>
            <a:round/>
          </a:ln>
        </p:spPr>
      </p:cxnSp>
      <p:sp>
        <p:nvSpPr>
          <p:cNvPr id="342" name="Oval 17"/>
          <p:cNvSpPr/>
          <p:nvPr/>
        </p:nvSpPr>
        <p:spPr>
          <a:xfrm>
            <a:off x="9144000" y="4069080"/>
            <a:ext cx="342720" cy="571320"/>
          </a:xfrm>
          <a:custGeom>
            <a:avLst/>
            <a:gdLst>
              <a:gd name="textAreaLeft" fmla="*/ 50040 w 342720"/>
              <a:gd name="textAreaRight" fmla="*/ 292680 w 342720"/>
              <a:gd name="textAreaTop" fmla="*/ 83520 h 571320"/>
              <a:gd name="textAreaBottom" fmla="*/ 487800 h 571320"/>
            </a:gdLst>
            <a:ahLst/>
            <a:cxnLst/>
            <a:rect l="textAreaLeft" t="textAreaTop" r="textAreaRight" b="textAreaBottom"/>
            <a:pathLst>
              <a:path w="21600" h="35992">
                <a:moveTo>
                  <a:pt x="0" y="17996"/>
                </a:moveTo>
                <a:lnTo>
                  <a:pt x="0" y="17996"/>
                </a:lnTo>
                <a:arcTo wR="0" hR="0" stAng="0" swAng="0"/>
                <a:lnTo>
                  <a:pt x="0" y="17996"/>
                </a:lnTo>
                <a:arcTo wR="10800" hR="17996" stAng="-10800000" swAng="21550000"/>
                <a:close/>
              </a:path>
            </a:pathLst>
          </a:custGeom>
          <a:solidFill>
            <a:srgbClr val="704C91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Oval 18"/>
          <p:cNvSpPr/>
          <p:nvPr/>
        </p:nvSpPr>
        <p:spPr>
          <a:xfrm>
            <a:off x="9406800" y="4011840"/>
            <a:ext cx="342720" cy="651240"/>
          </a:xfrm>
          <a:custGeom>
            <a:avLst/>
            <a:gdLst>
              <a:gd name="textAreaLeft" fmla="*/ 50040 w 342720"/>
              <a:gd name="textAreaRight" fmla="*/ 292680 w 342720"/>
              <a:gd name="textAreaTop" fmla="*/ 95400 h 651240"/>
              <a:gd name="textAreaBottom" fmla="*/ 555840 h 651240"/>
            </a:gdLst>
            <a:ahLst/>
            <a:cxnLst/>
            <a:rect l="textAreaLeft" t="textAreaTop" r="textAreaRight" b="textAreaBottom"/>
            <a:pathLst>
              <a:path w="21600" h="41024">
                <a:moveTo>
                  <a:pt x="0" y="20512"/>
                </a:moveTo>
                <a:lnTo>
                  <a:pt x="0" y="20512"/>
                </a:lnTo>
                <a:arcTo wR="0" hR="0" stAng="0" swAng="0"/>
                <a:lnTo>
                  <a:pt x="0" y="20512"/>
                </a:lnTo>
                <a:arcTo wR="10800" hR="20512" stAng="-10800000" swAng="21550000"/>
                <a:close/>
              </a:path>
            </a:pathLst>
          </a:custGeom>
          <a:solidFill>
            <a:srgbClr val="704C91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Oval 19"/>
          <p:cNvSpPr/>
          <p:nvPr/>
        </p:nvSpPr>
        <p:spPr>
          <a:xfrm>
            <a:off x="9669960" y="4069080"/>
            <a:ext cx="342720" cy="571320"/>
          </a:xfrm>
          <a:custGeom>
            <a:avLst/>
            <a:gdLst>
              <a:gd name="textAreaLeft" fmla="*/ 50040 w 342720"/>
              <a:gd name="textAreaRight" fmla="*/ 292680 w 342720"/>
              <a:gd name="textAreaTop" fmla="*/ 83520 h 571320"/>
              <a:gd name="textAreaBottom" fmla="*/ 487800 h 571320"/>
            </a:gdLst>
            <a:ahLst/>
            <a:cxnLst/>
            <a:rect l="textAreaLeft" t="textAreaTop" r="textAreaRight" b="textAreaBottom"/>
            <a:pathLst>
              <a:path w="21600" h="35992">
                <a:moveTo>
                  <a:pt x="0" y="17996"/>
                </a:moveTo>
                <a:lnTo>
                  <a:pt x="0" y="17996"/>
                </a:lnTo>
                <a:arcTo wR="0" hR="0" stAng="0" swAng="0"/>
                <a:lnTo>
                  <a:pt x="0" y="17996"/>
                </a:lnTo>
                <a:arcTo wR="10800" hR="17996" stAng="-10800000" swAng="21550000"/>
                <a:close/>
              </a:path>
            </a:pathLst>
          </a:custGeom>
          <a:solidFill>
            <a:srgbClr val="704C91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Rectangle 1"/>
          <p:cNvSpPr/>
          <p:nvPr/>
        </p:nvSpPr>
        <p:spPr>
          <a:xfrm>
            <a:off x="0" y="0"/>
            <a:ext cx="12191400" cy="145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E1D2F2"/>
          </a:solidFill>
          <a:ln w="9360">
            <a:solidFill>
              <a:srgbClr val="E1D2F2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Rectangle 2"/>
          <p:cNvSpPr/>
          <p:nvPr/>
        </p:nvSpPr>
        <p:spPr>
          <a:xfrm>
            <a:off x="0" y="6711840"/>
            <a:ext cx="12191400" cy="145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1EAF8"/>
          </a:solidFill>
          <a:ln w="9360">
            <a:solidFill>
              <a:srgbClr val="F1EAF8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47" name="Connector 3"/>
          <p:cNvCxnSpPr/>
          <p:nvPr/>
        </p:nvCxnSpPr>
        <p:spPr>
          <a:xfrm>
            <a:off x="11667600" y="594000"/>
            <a:ext cx="720" cy="412560"/>
          </a:xfrm>
          <a:prstGeom prst="straightConnector1">
            <a:avLst/>
          </a:prstGeom>
          <a:ln w="9360">
            <a:solidFill>
              <a:srgbClr val="7E9A7E"/>
            </a:solidFill>
            <a:round/>
          </a:ln>
        </p:spPr>
      </p:cxnSp>
      <p:sp>
        <p:nvSpPr>
          <p:cNvPr id="348" name="Oval 4"/>
          <p:cNvSpPr/>
          <p:nvPr/>
        </p:nvSpPr>
        <p:spPr>
          <a:xfrm>
            <a:off x="11475720" y="320040"/>
            <a:ext cx="164160" cy="273960"/>
          </a:xfrm>
          <a:custGeom>
            <a:avLst/>
            <a:gdLst>
              <a:gd name="textAreaLeft" fmla="*/ 23760 w 164160"/>
              <a:gd name="textAreaRight" fmla="*/ 140400 w 164160"/>
              <a:gd name="textAreaTop" fmla="*/ 39960 h 273960"/>
              <a:gd name="textAreaBottom" fmla="*/ 234000 h 273960"/>
            </a:gdLst>
            <a:ahLst/>
            <a:cxnLst/>
            <a:rect l="textAreaLeft" t="textAreaTop" r="textAreaRight" b="textAreaBottom"/>
            <a:pathLst>
              <a:path w="21600" h="36016">
                <a:moveTo>
                  <a:pt x="0" y="18008"/>
                </a:moveTo>
                <a:lnTo>
                  <a:pt x="0" y="18008"/>
                </a:lnTo>
                <a:arcTo wR="0" hR="0" stAng="0" swAng="0"/>
                <a:lnTo>
                  <a:pt x="0" y="18008"/>
                </a:lnTo>
                <a:arcTo wR="10800" hR="18008" stAng="-10800000" swAng="21550000"/>
                <a:close/>
              </a:path>
            </a:pathLst>
          </a:custGeom>
          <a:solidFill>
            <a:srgbClr val="704C91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Oval 5"/>
          <p:cNvSpPr/>
          <p:nvPr/>
        </p:nvSpPr>
        <p:spPr>
          <a:xfrm>
            <a:off x="11602080" y="292680"/>
            <a:ext cx="164160" cy="312480"/>
          </a:xfrm>
          <a:custGeom>
            <a:avLst/>
            <a:gdLst>
              <a:gd name="textAreaLeft" fmla="*/ 23760 w 164160"/>
              <a:gd name="textAreaRight" fmla="*/ 140400 w 164160"/>
              <a:gd name="textAreaTop" fmla="*/ 45720 h 312480"/>
              <a:gd name="textAreaBottom" fmla="*/ 266760 h 312480"/>
            </a:gdLst>
            <a:ahLst/>
            <a:cxnLst/>
            <a:rect l="textAreaLeft" t="textAreaTop" r="textAreaRight" b="textAreaBottom"/>
            <a:pathLst>
              <a:path w="21600" h="41073">
                <a:moveTo>
                  <a:pt x="0" y="20537"/>
                </a:moveTo>
                <a:lnTo>
                  <a:pt x="0" y="20537"/>
                </a:lnTo>
                <a:arcTo wR="0" hR="0" stAng="0" swAng="0"/>
                <a:lnTo>
                  <a:pt x="0" y="20537"/>
                </a:lnTo>
                <a:arcTo wR="10800" hR="20537" stAng="-10800000" swAng="21550000"/>
                <a:close/>
              </a:path>
            </a:pathLst>
          </a:custGeom>
          <a:solidFill>
            <a:srgbClr val="704C91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Oval 6"/>
          <p:cNvSpPr/>
          <p:nvPr/>
        </p:nvSpPr>
        <p:spPr>
          <a:xfrm>
            <a:off x="11728080" y="320040"/>
            <a:ext cx="164160" cy="273960"/>
          </a:xfrm>
          <a:custGeom>
            <a:avLst/>
            <a:gdLst>
              <a:gd name="textAreaLeft" fmla="*/ 23760 w 164160"/>
              <a:gd name="textAreaRight" fmla="*/ 140400 w 164160"/>
              <a:gd name="textAreaTop" fmla="*/ 39960 h 273960"/>
              <a:gd name="textAreaBottom" fmla="*/ 234000 h 273960"/>
            </a:gdLst>
            <a:ahLst/>
            <a:cxnLst/>
            <a:rect l="textAreaLeft" t="textAreaTop" r="textAreaRight" b="textAreaBottom"/>
            <a:pathLst>
              <a:path w="21600" h="36016">
                <a:moveTo>
                  <a:pt x="0" y="18008"/>
                </a:moveTo>
                <a:lnTo>
                  <a:pt x="0" y="18008"/>
                </a:lnTo>
                <a:arcTo wR="0" hR="0" stAng="0" swAng="0"/>
                <a:lnTo>
                  <a:pt x="0" y="18008"/>
                </a:lnTo>
                <a:arcTo wR="10800" hR="18008" stAng="-10800000" swAng="21550000"/>
                <a:close/>
              </a:path>
            </a:pathLst>
          </a:custGeom>
          <a:solidFill>
            <a:srgbClr val="704C91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Box 7"/>
          <p:cNvSpPr/>
          <p:nvPr/>
        </p:nvSpPr>
        <p:spPr>
          <a:xfrm>
            <a:off x="594360" y="431640"/>
            <a:ext cx="9143640" cy="5173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>
              <a:lnSpc>
                <a:spcPct val="100000"/>
              </a:lnSpc>
            </a:pPr>
            <a:r>
              <a:rPr lang="en-US" sz="2800" b="1" u="none" strike="noStrike">
                <a:solidFill>
                  <a:srgbClr val="372B43"/>
                </a:solidFill>
                <a:effectLst/>
                <a:uFillTx/>
                <a:latin typeface="Aptos"/>
              </a:rPr>
              <a:t>Future Scope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52" name="Connector 8"/>
          <p:cNvCxnSpPr/>
          <p:nvPr/>
        </p:nvCxnSpPr>
        <p:spPr>
          <a:xfrm>
            <a:off x="594360" y="987480"/>
            <a:ext cx="2286720" cy="720"/>
          </a:xfrm>
          <a:prstGeom prst="straightConnector1">
            <a:avLst/>
          </a:prstGeom>
          <a:ln w="28080">
            <a:solidFill>
              <a:srgbClr val="704C91"/>
            </a:solidFill>
            <a:round/>
          </a:ln>
        </p:spPr>
      </p:cxnSp>
      <p:sp>
        <p:nvSpPr>
          <p:cNvPr id="353" name="Rounded Rectangle 10"/>
          <p:cNvSpPr/>
          <p:nvPr/>
        </p:nvSpPr>
        <p:spPr>
          <a:xfrm>
            <a:off x="731520" y="1554480"/>
            <a:ext cx="3245760" cy="1325520"/>
          </a:xfrm>
          <a:custGeom>
            <a:avLst/>
            <a:gdLst>
              <a:gd name="textAreaLeft" fmla="*/ 64440 w 3245760"/>
              <a:gd name="textAreaRight" fmla="*/ 3181320 w 3245760"/>
              <a:gd name="textAreaTop" fmla="*/ 64440 h 1325520"/>
              <a:gd name="textAreaBottom" fmla="*/ 1261080 h 1325520"/>
            </a:gdLst>
            <a:ahLst/>
            <a:cxnLst/>
            <a:rect l="textAreaLeft" t="textAreaTop" r="textAreaRight" b="textAreaBottom"/>
            <a:pathLst>
              <a:path w="52883" h="21600">
                <a:moveTo>
                  <a:pt x="3600" y="0"/>
                </a:moveTo>
                <a:arcTo wR="3600" hR="3600" stAng="16200000" swAng="-5400000"/>
                <a:lnTo>
                  <a:pt x="0" y="18000"/>
                </a:lnTo>
                <a:arcTo wR="3600" hR="3600" stAng="10800000" swAng="-5400000"/>
                <a:lnTo>
                  <a:pt x="49283" y="21600"/>
                </a:lnTo>
                <a:arcTo wR="3600" hR="3600" stAng="5400000" swAng="-5400000"/>
                <a:lnTo>
                  <a:pt x="52883" y="3600"/>
                </a:lnTo>
                <a:arcTo wR="3600" hR="3600" stAng="0" swAng="-5400000"/>
                <a:close/>
              </a:path>
            </a:pathLst>
          </a:custGeom>
          <a:solidFill>
            <a:srgbClr val="FFFFFF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Box 11"/>
          <p:cNvSpPr/>
          <p:nvPr/>
        </p:nvSpPr>
        <p:spPr>
          <a:xfrm>
            <a:off x="914400" y="2004480"/>
            <a:ext cx="2880000" cy="334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372B43"/>
                </a:solidFill>
                <a:effectLst/>
                <a:uFillTx/>
                <a:latin typeface="Aptos"/>
              </a:rPr>
              <a:t>Real-time banking data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Rounded Rectangle 12"/>
          <p:cNvSpPr/>
          <p:nvPr/>
        </p:nvSpPr>
        <p:spPr>
          <a:xfrm>
            <a:off x="4434840" y="1554480"/>
            <a:ext cx="3245760" cy="1325520"/>
          </a:xfrm>
          <a:custGeom>
            <a:avLst/>
            <a:gdLst>
              <a:gd name="textAreaLeft" fmla="*/ 64440 w 3245760"/>
              <a:gd name="textAreaRight" fmla="*/ 3181320 w 3245760"/>
              <a:gd name="textAreaTop" fmla="*/ 64440 h 1325520"/>
              <a:gd name="textAreaBottom" fmla="*/ 1261080 h 1325520"/>
            </a:gdLst>
            <a:ahLst/>
            <a:cxnLst/>
            <a:rect l="textAreaLeft" t="textAreaTop" r="textAreaRight" b="textAreaBottom"/>
            <a:pathLst>
              <a:path w="52883" h="21600">
                <a:moveTo>
                  <a:pt x="3600" y="0"/>
                </a:moveTo>
                <a:arcTo wR="3600" hR="3600" stAng="16200000" swAng="-5400000"/>
                <a:lnTo>
                  <a:pt x="0" y="18000"/>
                </a:lnTo>
                <a:arcTo wR="3600" hR="3600" stAng="10800000" swAng="-5400000"/>
                <a:lnTo>
                  <a:pt x="49283" y="21600"/>
                </a:lnTo>
                <a:arcTo wR="3600" hR="3600" stAng="5400000" swAng="-5400000"/>
                <a:lnTo>
                  <a:pt x="52883" y="3600"/>
                </a:lnTo>
                <a:arcTo wR="3600" hR="3600" stAng="0" swAng="-5400000"/>
                <a:close/>
              </a:path>
            </a:pathLst>
          </a:custGeom>
          <a:solidFill>
            <a:srgbClr val="FFFFFF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Box 13"/>
          <p:cNvSpPr/>
          <p:nvPr/>
        </p:nvSpPr>
        <p:spPr>
          <a:xfrm>
            <a:off x="4617720" y="2004480"/>
            <a:ext cx="2880000" cy="334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372B43"/>
                </a:solidFill>
                <a:effectLst/>
                <a:uFillTx/>
                <a:latin typeface="Aptos"/>
              </a:rPr>
              <a:t>Customer lifetime value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Rounded Rectangle 14"/>
          <p:cNvSpPr/>
          <p:nvPr/>
        </p:nvSpPr>
        <p:spPr>
          <a:xfrm>
            <a:off x="8138160" y="1554480"/>
            <a:ext cx="3245760" cy="1325520"/>
          </a:xfrm>
          <a:custGeom>
            <a:avLst/>
            <a:gdLst>
              <a:gd name="textAreaLeft" fmla="*/ 64440 w 3245760"/>
              <a:gd name="textAreaRight" fmla="*/ 3181320 w 3245760"/>
              <a:gd name="textAreaTop" fmla="*/ 64440 h 1325520"/>
              <a:gd name="textAreaBottom" fmla="*/ 1261080 h 1325520"/>
            </a:gdLst>
            <a:ahLst/>
            <a:cxnLst/>
            <a:rect l="textAreaLeft" t="textAreaTop" r="textAreaRight" b="textAreaBottom"/>
            <a:pathLst>
              <a:path w="52883" h="21600">
                <a:moveTo>
                  <a:pt x="3600" y="0"/>
                </a:moveTo>
                <a:arcTo wR="3600" hR="3600" stAng="16200000" swAng="-5400000"/>
                <a:lnTo>
                  <a:pt x="0" y="18000"/>
                </a:lnTo>
                <a:arcTo wR="3600" hR="3600" stAng="10800000" swAng="-5400000"/>
                <a:lnTo>
                  <a:pt x="49283" y="21600"/>
                </a:lnTo>
                <a:arcTo wR="3600" hR="3600" stAng="5400000" swAng="-5400000"/>
                <a:lnTo>
                  <a:pt x="52883" y="3600"/>
                </a:lnTo>
                <a:arcTo wR="3600" hR="3600" stAng="0" swAng="-5400000"/>
                <a:close/>
              </a:path>
            </a:pathLst>
          </a:custGeom>
          <a:solidFill>
            <a:srgbClr val="FFFFFF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Box 15"/>
          <p:cNvSpPr/>
          <p:nvPr/>
        </p:nvSpPr>
        <p:spPr>
          <a:xfrm>
            <a:off x="8321040" y="1882800"/>
            <a:ext cx="2880000" cy="577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372B43"/>
                </a:solidFill>
                <a:effectLst/>
                <a:uFillTx/>
                <a:latin typeface="Aptos"/>
              </a:rPr>
              <a:t>Advanced boosting models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Rounded Rectangle 16"/>
          <p:cNvSpPr/>
          <p:nvPr/>
        </p:nvSpPr>
        <p:spPr>
          <a:xfrm>
            <a:off x="731520" y="3474720"/>
            <a:ext cx="3245760" cy="1325520"/>
          </a:xfrm>
          <a:custGeom>
            <a:avLst/>
            <a:gdLst>
              <a:gd name="textAreaLeft" fmla="*/ 64440 w 3245760"/>
              <a:gd name="textAreaRight" fmla="*/ 3181320 w 3245760"/>
              <a:gd name="textAreaTop" fmla="*/ 64440 h 1325520"/>
              <a:gd name="textAreaBottom" fmla="*/ 1261080 h 1325520"/>
            </a:gdLst>
            <a:ahLst/>
            <a:cxnLst/>
            <a:rect l="textAreaLeft" t="textAreaTop" r="textAreaRight" b="textAreaBottom"/>
            <a:pathLst>
              <a:path w="52883" h="21600">
                <a:moveTo>
                  <a:pt x="3600" y="0"/>
                </a:moveTo>
                <a:arcTo wR="3600" hR="3600" stAng="16200000" swAng="-5400000"/>
                <a:lnTo>
                  <a:pt x="0" y="18000"/>
                </a:lnTo>
                <a:arcTo wR="3600" hR="3600" stAng="10800000" swAng="-5400000"/>
                <a:lnTo>
                  <a:pt x="49283" y="21600"/>
                </a:lnTo>
                <a:arcTo wR="3600" hR="3600" stAng="5400000" swAng="-5400000"/>
                <a:lnTo>
                  <a:pt x="52883" y="3600"/>
                </a:lnTo>
                <a:arcTo wR="3600" hR="3600" stAng="0" swAng="-5400000"/>
                <a:close/>
              </a:path>
            </a:pathLst>
          </a:custGeom>
          <a:solidFill>
            <a:srgbClr val="FFFFFF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Box 17"/>
          <p:cNvSpPr/>
          <p:nvPr/>
        </p:nvSpPr>
        <p:spPr>
          <a:xfrm>
            <a:off x="914400" y="3924720"/>
            <a:ext cx="2880000" cy="334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372B43"/>
                </a:solidFill>
                <a:effectLst/>
                <a:uFillTx/>
                <a:latin typeface="Aptos"/>
              </a:rPr>
              <a:t>Automated alerts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Rounded Rectangle 18"/>
          <p:cNvSpPr/>
          <p:nvPr/>
        </p:nvSpPr>
        <p:spPr>
          <a:xfrm>
            <a:off x="4434840" y="3474720"/>
            <a:ext cx="3245760" cy="1325520"/>
          </a:xfrm>
          <a:custGeom>
            <a:avLst/>
            <a:gdLst>
              <a:gd name="textAreaLeft" fmla="*/ 64440 w 3245760"/>
              <a:gd name="textAreaRight" fmla="*/ 3181320 w 3245760"/>
              <a:gd name="textAreaTop" fmla="*/ 64440 h 1325520"/>
              <a:gd name="textAreaBottom" fmla="*/ 1261080 h 1325520"/>
            </a:gdLst>
            <a:ahLst/>
            <a:cxnLst/>
            <a:rect l="textAreaLeft" t="textAreaTop" r="textAreaRight" b="textAreaBottom"/>
            <a:pathLst>
              <a:path w="52883" h="21600">
                <a:moveTo>
                  <a:pt x="3600" y="0"/>
                </a:moveTo>
                <a:arcTo wR="3600" hR="3600" stAng="16200000" swAng="-5400000"/>
                <a:lnTo>
                  <a:pt x="0" y="18000"/>
                </a:lnTo>
                <a:arcTo wR="3600" hR="3600" stAng="10800000" swAng="-5400000"/>
                <a:lnTo>
                  <a:pt x="49283" y="21600"/>
                </a:lnTo>
                <a:arcTo wR="3600" hR="3600" stAng="5400000" swAng="-5400000"/>
                <a:lnTo>
                  <a:pt x="52883" y="3600"/>
                </a:lnTo>
                <a:arcTo wR="3600" hR="3600" stAng="0" swAng="-5400000"/>
                <a:close/>
              </a:path>
            </a:pathLst>
          </a:custGeom>
          <a:solidFill>
            <a:srgbClr val="FFFFFF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Box 19"/>
          <p:cNvSpPr/>
          <p:nvPr/>
        </p:nvSpPr>
        <p:spPr>
          <a:xfrm>
            <a:off x="4617720" y="3924720"/>
            <a:ext cx="2880000" cy="334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372B43"/>
                </a:solidFill>
                <a:effectLst/>
                <a:uFillTx/>
                <a:latin typeface="Aptos"/>
              </a:rPr>
              <a:t>Cloud deployment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Rounded Rectangle 20"/>
          <p:cNvSpPr/>
          <p:nvPr/>
        </p:nvSpPr>
        <p:spPr>
          <a:xfrm>
            <a:off x="8138160" y="3474720"/>
            <a:ext cx="3245760" cy="1325520"/>
          </a:xfrm>
          <a:custGeom>
            <a:avLst/>
            <a:gdLst>
              <a:gd name="textAreaLeft" fmla="*/ 64440 w 3245760"/>
              <a:gd name="textAreaRight" fmla="*/ 3181320 w 3245760"/>
              <a:gd name="textAreaTop" fmla="*/ 64440 h 1325520"/>
              <a:gd name="textAreaBottom" fmla="*/ 1261080 h 1325520"/>
            </a:gdLst>
            <a:ahLst/>
            <a:cxnLst/>
            <a:rect l="textAreaLeft" t="textAreaTop" r="textAreaRight" b="textAreaBottom"/>
            <a:pathLst>
              <a:path w="52883" h="21600">
                <a:moveTo>
                  <a:pt x="3600" y="0"/>
                </a:moveTo>
                <a:arcTo wR="3600" hR="3600" stAng="16200000" swAng="-5400000"/>
                <a:lnTo>
                  <a:pt x="0" y="18000"/>
                </a:lnTo>
                <a:arcTo wR="3600" hR="3600" stAng="10800000" swAng="-5400000"/>
                <a:lnTo>
                  <a:pt x="49283" y="21600"/>
                </a:lnTo>
                <a:arcTo wR="3600" hR="3600" stAng="5400000" swAng="-5400000"/>
                <a:lnTo>
                  <a:pt x="52883" y="3600"/>
                </a:lnTo>
                <a:arcTo wR="3600" hR="3600" stAng="0" swAng="-5400000"/>
                <a:close/>
              </a:path>
            </a:pathLst>
          </a:custGeom>
          <a:solidFill>
            <a:srgbClr val="FFFFFF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Box 21"/>
          <p:cNvSpPr/>
          <p:nvPr/>
        </p:nvSpPr>
        <p:spPr>
          <a:xfrm>
            <a:off x="8321040" y="3924720"/>
            <a:ext cx="2880000" cy="334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372B43"/>
                </a:solidFill>
                <a:effectLst/>
                <a:uFillTx/>
                <a:latin typeface="Aptos"/>
              </a:rPr>
              <a:t>Advanced segmentation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E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TextBox 1"/>
          <p:cNvSpPr/>
          <p:nvPr/>
        </p:nvSpPr>
        <p:spPr>
          <a:xfrm>
            <a:off x="822960" y="1326240"/>
            <a:ext cx="6857640" cy="730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>
              <a:lnSpc>
                <a:spcPct val="100000"/>
              </a:lnSpc>
            </a:pPr>
            <a:r>
              <a:rPr lang="en-US" sz="4200" b="1" u="none" strike="noStrike">
                <a:solidFill>
                  <a:srgbClr val="372B43"/>
                </a:solidFill>
                <a:effectLst/>
                <a:uFillTx/>
                <a:latin typeface="Aptos"/>
              </a:rPr>
              <a:t>THANK YOU</a:t>
            </a:r>
            <a:endParaRPr lang="en-IN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66" name="Connector 3"/>
          <p:cNvCxnSpPr/>
          <p:nvPr/>
        </p:nvCxnSpPr>
        <p:spPr>
          <a:xfrm>
            <a:off x="868680" y="2238480"/>
            <a:ext cx="2469600" cy="720"/>
          </a:xfrm>
          <a:prstGeom prst="straightConnector1">
            <a:avLst/>
          </a:prstGeom>
          <a:ln w="31680">
            <a:solidFill>
              <a:srgbClr val="704C91"/>
            </a:solidFill>
            <a:round/>
          </a:ln>
        </p:spPr>
      </p:cxnSp>
      <p:sp>
        <p:nvSpPr>
          <p:cNvPr id="367" name="TextBox 4"/>
          <p:cNvSpPr/>
          <p:nvPr/>
        </p:nvSpPr>
        <p:spPr>
          <a:xfrm>
            <a:off x="868680" y="2873520"/>
            <a:ext cx="6034680" cy="623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>
              <a:lnSpc>
                <a:spcPct val="100000"/>
              </a:lnSpc>
            </a:pPr>
            <a:r>
              <a:rPr lang="en-US" sz="1700" b="0" u="none" strike="noStrike">
                <a:solidFill>
                  <a:srgbClr val="372B43"/>
                </a:solidFill>
                <a:effectLst/>
                <a:uFillTx/>
                <a:latin typeface="Aptos"/>
              </a:rPr>
              <a:t>Bank Churn Prediction &amp; Customer Retention</a:t>
            </a:r>
            <a:br>
              <a:rPr sz="1800"/>
            </a:b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Recommendation System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Box 5"/>
          <p:cNvSpPr/>
          <p:nvPr/>
        </p:nvSpPr>
        <p:spPr>
          <a:xfrm>
            <a:off x="868680" y="3990240"/>
            <a:ext cx="4114440" cy="3189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704C91"/>
                </a:solidFill>
                <a:effectLst/>
                <a:uFillTx/>
                <a:latin typeface="Aptos"/>
              </a:rPr>
              <a:t>Presented by Simran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69" name="Connector 6"/>
          <p:cNvCxnSpPr/>
          <p:nvPr/>
        </p:nvCxnSpPr>
        <p:spPr>
          <a:xfrm>
            <a:off x="8677440" y="5029200"/>
            <a:ext cx="720" cy="960840"/>
          </a:xfrm>
          <a:prstGeom prst="straightConnector1">
            <a:avLst/>
          </a:prstGeom>
          <a:ln w="9360">
            <a:solidFill>
              <a:srgbClr val="7E9A7E"/>
            </a:solidFill>
            <a:round/>
          </a:ln>
        </p:spPr>
      </p:cxnSp>
      <p:sp>
        <p:nvSpPr>
          <p:cNvPr id="370" name="Oval 7"/>
          <p:cNvSpPr/>
          <p:nvPr/>
        </p:nvSpPr>
        <p:spPr>
          <a:xfrm>
            <a:off x="8229600" y="4389120"/>
            <a:ext cx="383760" cy="639720"/>
          </a:xfrm>
          <a:custGeom>
            <a:avLst/>
            <a:gdLst>
              <a:gd name="textAreaLeft" fmla="*/ 56160 w 383760"/>
              <a:gd name="textAreaRight" fmla="*/ 327600 w 383760"/>
              <a:gd name="textAreaTop" fmla="*/ 93600 h 639720"/>
              <a:gd name="textAreaBottom" fmla="*/ 546120 h 639720"/>
            </a:gdLst>
            <a:ahLst/>
            <a:cxnLst/>
            <a:rect l="textAreaLeft" t="textAreaTop" r="textAreaRight" b="textAreaBottom"/>
            <a:pathLst>
              <a:path w="21600" h="35993">
                <a:moveTo>
                  <a:pt x="0" y="17997"/>
                </a:moveTo>
                <a:lnTo>
                  <a:pt x="0" y="17997"/>
                </a:lnTo>
                <a:arcTo wR="0" hR="0" stAng="0" swAng="0"/>
                <a:lnTo>
                  <a:pt x="0" y="17997"/>
                </a:lnTo>
                <a:arcTo wR="10800" hR="17997" stAng="-10800000" swAng="21550000"/>
                <a:close/>
              </a:path>
            </a:pathLst>
          </a:custGeom>
          <a:solidFill>
            <a:srgbClr val="704C91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Oval 8"/>
          <p:cNvSpPr/>
          <p:nvPr/>
        </p:nvSpPr>
        <p:spPr>
          <a:xfrm>
            <a:off x="8524080" y="4325040"/>
            <a:ext cx="383760" cy="729360"/>
          </a:xfrm>
          <a:custGeom>
            <a:avLst/>
            <a:gdLst>
              <a:gd name="textAreaLeft" fmla="*/ 56160 w 383760"/>
              <a:gd name="textAreaRight" fmla="*/ 327600 w 383760"/>
              <a:gd name="textAreaTop" fmla="*/ 106560 h 729360"/>
              <a:gd name="textAreaBottom" fmla="*/ 622800 h 729360"/>
            </a:gdLst>
            <a:ahLst/>
            <a:cxnLst/>
            <a:rect l="textAreaLeft" t="textAreaTop" r="textAreaRight" b="textAreaBottom"/>
            <a:pathLst>
              <a:path w="21600" h="41034">
                <a:moveTo>
                  <a:pt x="0" y="20517"/>
                </a:moveTo>
                <a:lnTo>
                  <a:pt x="0" y="20517"/>
                </a:lnTo>
                <a:arcTo wR="0" hR="0" stAng="0" swAng="0"/>
                <a:lnTo>
                  <a:pt x="0" y="20517"/>
                </a:lnTo>
                <a:arcTo wR="10800" hR="20517" stAng="-10800000" swAng="21550000"/>
                <a:close/>
              </a:path>
            </a:pathLst>
          </a:custGeom>
          <a:solidFill>
            <a:srgbClr val="704C91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Oval 9"/>
          <p:cNvSpPr/>
          <p:nvPr/>
        </p:nvSpPr>
        <p:spPr>
          <a:xfrm>
            <a:off x="8818560" y="4389120"/>
            <a:ext cx="383760" cy="639720"/>
          </a:xfrm>
          <a:custGeom>
            <a:avLst/>
            <a:gdLst>
              <a:gd name="textAreaLeft" fmla="*/ 56160 w 383760"/>
              <a:gd name="textAreaRight" fmla="*/ 327600 w 383760"/>
              <a:gd name="textAreaTop" fmla="*/ 93600 h 639720"/>
              <a:gd name="textAreaBottom" fmla="*/ 546120 h 639720"/>
            </a:gdLst>
            <a:ahLst/>
            <a:cxnLst/>
            <a:rect l="textAreaLeft" t="textAreaTop" r="textAreaRight" b="textAreaBottom"/>
            <a:pathLst>
              <a:path w="21600" h="35993">
                <a:moveTo>
                  <a:pt x="0" y="17997"/>
                </a:moveTo>
                <a:lnTo>
                  <a:pt x="0" y="17997"/>
                </a:lnTo>
                <a:arcTo wR="0" hR="0" stAng="0" swAng="0"/>
                <a:lnTo>
                  <a:pt x="0" y="17997"/>
                </a:lnTo>
                <a:arcTo wR="10800" hR="17997" stAng="-10800000" swAng="21550000"/>
                <a:close/>
              </a:path>
            </a:pathLst>
          </a:custGeom>
          <a:solidFill>
            <a:srgbClr val="704C91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373" name="Connector 10"/>
          <p:cNvCxnSpPr/>
          <p:nvPr/>
        </p:nvCxnSpPr>
        <p:spPr>
          <a:xfrm>
            <a:off x="9372600" y="4846320"/>
            <a:ext cx="720" cy="686520"/>
          </a:xfrm>
          <a:prstGeom prst="straightConnector1">
            <a:avLst/>
          </a:prstGeom>
          <a:ln w="9360">
            <a:solidFill>
              <a:srgbClr val="7E9A7E"/>
            </a:solidFill>
            <a:round/>
          </a:ln>
        </p:spPr>
      </p:cxnSp>
      <p:sp>
        <p:nvSpPr>
          <p:cNvPr id="374" name="Oval 11"/>
          <p:cNvSpPr/>
          <p:nvPr/>
        </p:nvSpPr>
        <p:spPr>
          <a:xfrm>
            <a:off x="9052560" y="4389120"/>
            <a:ext cx="273960" cy="456840"/>
          </a:xfrm>
          <a:custGeom>
            <a:avLst/>
            <a:gdLst>
              <a:gd name="textAreaLeft" fmla="*/ 39960 w 273960"/>
              <a:gd name="textAreaRight" fmla="*/ 234000 w 273960"/>
              <a:gd name="textAreaTop" fmla="*/ 66600 h 456840"/>
              <a:gd name="textAreaBottom" fmla="*/ 390240 h 456840"/>
            </a:gdLst>
            <a:ahLst/>
            <a:cxnLst/>
            <a:rect l="textAreaLeft" t="textAreaTop" r="textAreaRight" b="textAreaBottom"/>
            <a:pathLst>
              <a:path w="21600" h="36000">
                <a:moveTo>
                  <a:pt x="0" y="18000"/>
                </a:moveTo>
                <a:lnTo>
                  <a:pt x="0" y="18000"/>
                </a:lnTo>
                <a:arcTo wR="0" hR="0" stAng="0" swAng="0"/>
                <a:lnTo>
                  <a:pt x="0" y="18000"/>
                </a:lnTo>
                <a:arcTo wR="10800" hR="18000" stAng="-10800000" swAng="21550000"/>
                <a:close/>
              </a:path>
            </a:pathLst>
          </a:custGeom>
          <a:solidFill>
            <a:srgbClr val="D3A4BE"/>
          </a:solidFill>
          <a:ln w="9360">
            <a:solidFill>
              <a:srgbClr val="D3A4BE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Oval 12"/>
          <p:cNvSpPr/>
          <p:nvPr/>
        </p:nvSpPr>
        <p:spPr>
          <a:xfrm>
            <a:off x="9262800" y="4343400"/>
            <a:ext cx="273960" cy="520920"/>
          </a:xfrm>
          <a:custGeom>
            <a:avLst/>
            <a:gdLst>
              <a:gd name="textAreaLeft" fmla="*/ 39960 w 273960"/>
              <a:gd name="textAreaRight" fmla="*/ 234000 w 273960"/>
              <a:gd name="textAreaTop" fmla="*/ 76320 h 520920"/>
              <a:gd name="textAreaBottom" fmla="*/ 444600 h 520920"/>
            </a:gdLst>
            <a:ahLst/>
            <a:cxnLst/>
            <a:rect l="textAreaLeft" t="textAreaTop" r="textAreaRight" b="textAreaBottom"/>
            <a:pathLst>
              <a:path w="21600" h="41046">
                <a:moveTo>
                  <a:pt x="0" y="20523"/>
                </a:moveTo>
                <a:lnTo>
                  <a:pt x="0" y="20523"/>
                </a:lnTo>
                <a:arcTo wR="0" hR="0" stAng="0" swAng="0"/>
                <a:lnTo>
                  <a:pt x="0" y="20523"/>
                </a:lnTo>
                <a:arcTo wR="10800" hR="20523" stAng="-10800000" swAng="21550000"/>
                <a:close/>
              </a:path>
            </a:pathLst>
          </a:custGeom>
          <a:solidFill>
            <a:srgbClr val="D3A4BE"/>
          </a:solidFill>
          <a:ln w="9360">
            <a:solidFill>
              <a:srgbClr val="D3A4BE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Oval 13"/>
          <p:cNvSpPr/>
          <p:nvPr/>
        </p:nvSpPr>
        <p:spPr>
          <a:xfrm>
            <a:off x="9473040" y="4389120"/>
            <a:ext cx="273960" cy="456840"/>
          </a:xfrm>
          <a:custGeom>
            <a:avLst/>
            <a:gdLst>
              <a:gd name="textAreaLeft" fmla="*/ 39960 w 273960"/>
              <a:gd name="textAreaRight" fmla="*/ 234000 w 273960"/>
              <a:gd name="textAreaTop" fmla="*/ 66600 h 456840"/>
              <a:gd name="textAreaBottom" fmla="*/ 390240 h 456840"/>
            </a:gdLst>
            <a:ahLst/>
            <a:cxnLst/>
            <a:rect l="textAreaLeft" t="textAreaTop" r="textAreaRight" b="textAreaBottom"/>
            <a:pathLst>
              <a:path w="21600" h="36000">
                <a:moveTo>
                  <a:pt x="0" y="18000"/>
                </a:moveTo>
                <a:lnTo>
                  <a:pt x="0" y="18000"/>
                </a:lnTo>
                <a:arcTo wR="0" hR="0" stAng="0" swAng="0"/>
                <a:lnTo>
                  <a:pt x="0" y="18000"/>
                </a:lnTo>
                <a:arcTo wR="10800" hR="18000" stAng="-10800000" swAng="21550000"/>
                <a:close/>
              </a:path>
            </a:pathLst>
          </a:custGeom>
          <a:solidFill>
            <a:srgbClr val="D3A4BE"/>
          </a:solidFill>
          <a:ln w="9360">
            <a:solidFill>
              <a:srgbClr val="D3A4BE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77" name="Connector 14"/>
          <p:cNvCxnSpPr/>
          <p:nvPr/>
        </p:nvCxnSpPr>
        <p:spPr>
          <a:xfrm>
            <a:off x="10261800" y="5006160"/>
            <a:ext cx="720" cy="926640"/>
          </a:xfrm>
          <a:prstGeom prst="straightConnector1">
            <a:avLst/>
          </a:prstGeom>
          <a:ln w="9360">
            <a:solidFill>
              <a:srgbClr val="7E9A7E"/>
            </a:solidFill>
            <a:round/>
          </a:ln>
        </p:spPr>
      </p:cxnSp>
      <p:sp>
        <p:nvSpPr>
          <p:cNvPr id="378" name="Oval 15"/>
          <p:cNvSpPr/>
          <p:nvPr/>
        </p:nvSpPr>
        <p:spPr>
          <a:xfrm>
            <a:off x="9829800" y="4389120"/>
            <a:ext cx="370080" cy="617040"/>
          </a:xfrm>
          <a:custGeom>
            <a:avLst/>
            <a:gdLst>
              <a:gd name="textAreaLeft" fmla="*/ 54000 w 370080"/>
              <a:gd name="textAreaRight" fmla="*/ 316080 w 370080"/>
              <a:gd name="textAreaTop" fmla="*/ 90360 h 617040"/>
              <a:gd name="textAreaBottom" fmla="*/ 526680 h 617040"/>
            </a:gdLst>
            <a:ahLst/>
            <a:cxnLst/>
            <a:rect l="textAreaLeft" t="textAreaTop" r="textAreaRight" b="textAreaBottom"/>
            <a:pathLst>
              <a:path w="21600" h="36000">
                <a:moveTo>
                  <a:pt x="0" y="18000"/>
                </a:moveTo>
                <a:lnTo>
                  <a:pt x="0" y="18000"/>
                </a:lnTo>
                <a:arcTo wR="0" hR="0" stAng="0" swAng="0"/>
                <a:lnTo>
                  <a:pt x="0" y="18000"/>
                </a:lnTo>
                <a:arcTo wR="10800" hR="18000" stAng="-10800000" swAng="21550000"/>
                <a:close/>
              </a:path>
            </a:pathLst>
          </a:custGeom>
          <a:solidFill>
            <a:srgbClr val="704C91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Oval 16"/>
          <p:cNvSpPr/>
          <p:nvPr/>
        </p:nvSpPr>
        <p:spPr>
          <a:xfrm>
            <a:off x="10113840" y="4327560"/>
            <a:ext cx="370080" cy="703440"/>
          </a:xfrm>
          <a:custGeom>
            <a:avLst/>
            <a:gdLst>
              <a:gd name="textAreaLeft" fmla="*/ 54000 w 370080"/>
              <a:gd name="textAreaRight" fmla="*/ 316080 w 370080"/>
              <a:gd name="textAreaTop" fmla="*/ 102960 h 703440"/>
              <a:gd name="textAreaBottom" fmla="*/ 600480 h 703440"/>
            </a:gdLst>
            <a:ahLst/>
            <a:cxnLst/>
            <a:rect l="textAreaLeft" t="textAreaTop" r="textAreaRight" b="textAreaBottom"/>
            <a:pathLst>
              <a:path w="21600" h="41038">
                <a:moveTo>
                  <a:pt x="0" y="20519"/>
                </a:moveTo>
                <a:lnTo>
                  <a:pt x="0" y="20519"/>
                </a:lnTo>
                <a:arcTo wR="0" hR="0" stAng="0" swAng="0"/>
                <a:lnTo>
                  <a:pt x="0" y="20519"/>
                </a:lnTo>
                <a:arcTo wR="10800" hR="20519" stAng="-10800000" swAng="21550000"/>
                <a:close/>
              </a:path>
            </a:pathLst>
          </a:custGeom>
          <a:solidFill>
            <a:srgbClr val="704C91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0" name="Oval 17"/>
          <p:cNvSpPr/>
          <p:nvPr/>
        </p:nvSpPr>
        <p:spPr>
          <a:xfrm>
            <a:off x="10397520" y="4389120"/>
            <a:ext cx="370080" cy="617040"/>
          </a:xfrm>
          <a:custGeom>
            <a:avLst/>
            <a:gdLst>
              <a:gd name="textAreaLeft" fmla="*/ 54000 w 370080"/>
              <a:gd name="textAreaRight" fmla="*/ 316080 w 370080"/>
              <a:gd name="textAreaTop" fmla="*/ 90360 h 617040"/>
              <a:gd name="textAreaBottom" fmla="*/ 526680 h 617040"/>
            </a:gdLst>
            <a:ahLst/>
            <a:cxnLst/>
            <a:rect l="textAreaLeft" t="textAreaTop" r="textAreaRight" b="textAreaBottom"/>
            <a:pathLst>
              <a:path w="21600" h="36000">
                <a:moveTo>
                  <a:pt x="0" y="18000"/>
                </a:moveTo>
                <a:lnTo>
                  <a:pt x="0" y="18000"/>
                </a:lnTo>
                <a:arcTo wR="0" hR="0" stAng="0" swAng="0"/>
                <a:lnTo>
                  <a:pt x="0" y="18000"/>
                </a:lnTo>
                <a:arcTo wR="10800" hR="18000" stAng="-10800000" swAng="21550000"/>
                <a:close/>
              </a:path>
            </a:pathLst>
          </a:custGeom>
          <a:solidFill>
            <a:srgbClr val="704C91"/>
          </a:solidFill>
          <a:ln w="9360">
            <a:solidFill>
              <a:srgbClr val="704C91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381" name="Connector 18"/>
          <p:cNvCxnSpPr/>
          <p:nvPr/>
        </p:nvCxnSpPr>
        <p:spPr>
          <a:xfrm>
            <a:off x="11032200" y="4800600"/>
            <a:ext cx="720" cy="617760"/>
          </a:xfrm>
          <a:prstGeom prst="straightConnector1">
            <a:avLst/>
          </a:prstGeom>
          <a:ln w="9360">
            <a:solidFill>
              <a:srgbClr val="7E9A7E"/>
            </a:solidFill>
            <a:round/>
          </a:ln>
        </p:spPr>
      </p:cxnSp>
      <p:sp>
        <p:nvSpPr>
          <p:cNvPr id="382" name="Oval 19"/>
          <p:cNvSpPr/>
          <p:nvPr/>
        </p:nvSpPr>
        <p:spPr>
          <a:xfrm>
            <a:off x="10744200" y="4389120"/>
            <a:ext cx="246600" cy="411120"/>
          </a:xfrm>
          <a:custGeom>
            <a:avLst/>
            <a:gdLst>
              <a:gd name="textAreaLeft" fmla="*/ 36000 w 246600"/>
              <a:gd name="textAreaRight" fmla="*/ 210600 w 246600"/>
              <a:gd name="textAreaTop" fmla="*/ 60120 h 411120"/>
              <a:gd name="textAreaBottom" fmla="*/ 351000 h 411120"/>
            </a:gdLst>
            <a:ahLst/>
            <a:cxnLst/>
            <a:rect l="textAreaLeft" t="textAreaTop" r="textAreaRight" b="textAreaBottom"/>
            <a:pathLst>
              <a:path w="21600" h="35990">
                <a:moveTo>
                  <a:pt x="0" y="17995"/>
                </a:moveTo>
                <a:lnTo>
                  <a:pt x="0" y="17995"/>
                </a:lnTo>
                <a:arcTo wR="0" hR="0" stAng="0" swAng="0"/>
                <a:lnTo>
                  <a:pt x="0" y="17995"/>
                </a:lnTo>
                <a:arcTo wR="10800" hR="17995" stAng="-10800000" swAng="21550000"/>
                <a:close/>
              </a:path>
            </a:pathLst>
          </a:custGeom>
          <a:solidFill>
            <a:srgbClr val="D3A4BE"/>
          </a:solidFill>
          <a:ln w="9360">
            <a:solidFill>
              <a:srgbClr val="D3A4BE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Oval 20"/>
          <p:cNvSpPr/>
          <p:nvPr/>
        </p:nvSpPr>
        <p:spPr>
          <a:xfrm>
            <a:off x="10933560" y="4348080"/>
            <a:ext cx="246600" cy="468720"/>
          </a:xfrm>
          <a:custGeom>
            <a:avLst/>
            <a:gdLst>
              <a:gd name="textAreaLeft" fmla="*/ 36000 w 246600"/>
              <a:gd name="textAreaRight" fmla="*/ 210600 w 246600"/>
              <a:gd name="textAreaTop" fmla="*/ 68400 h 468720"/>
              <a:gd name="textAreaBottom" fmla="*/ 400320 h 468720"/>
            </a:gdLst>
            <a:ahLst/>
            <a:cxnLst/>
            <a:rect l="textAreaLeft" t="textAreaTop" r="textAreaRight" b="textAreaBottom"/>
            <a:pathLst>
              <a:path w="21600" h="41027">
                <a:moveTo>
                  <a:pt x="0" y="20514"/>
                </a:moveTo>
                <a:lnTo>
                  <a:pt x="0" y="20514"/>
                </a:lnTo>
                <a:arcTo wR="0" hR="0" stAng="0" swAng="0"/>
                <a:lnTo>
                  <a:pt x="0" y="20514"/>
                </a:lnTo>
                <a:arcTo wR="10800" hR="20514" stAng="-10800000" swAng="21550000"/>
                <a:close/>
              </a:path>
            </a:pathLst>
          </a:custGeom>
          <a:solidFill>
            <a:srgbClr val="D3A4BE"/>
          </a:solidFill>
          <a:ln w="9360">
            <a:solidFill>
              <a:srgbClr val="D3A4BE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Oval 21"/>
          <p:cNvSpPr/>
          <p:nvPr/>
        </p:nvSpPr>
        <p:spPr>
          <a:xfrm>
            <a:off x="11122920" y="4389120"/>
            <a:ext cx="246600" cy="411120"/>
          </a:xfrm>
          <a:custGeom>
            <a:avLst/>
            <a:gdLst>
              <a:gd name="textAreaLeft" fmla="*/ 36000 w 246600"/>
              <a:gd name="textAreaRight" fmla="*/ 210600 w 246600"/>
              <a:gd name="textAreaTop" fmla="*/ 60120 h 411120"/>
              <a:gd name="textAreaBottom" fmla="*/ 351000 h 411120"/>
            </a:gdLst>
            <a:ahLst/>
            <a:cxnLst/>
            <a:rect l="textAreaLeft" t="textAreaTop" r="textAreaRight" b="textAreaBottom"/>
            <a:pathLst>
              <a:path w="21600" h="35990">
                <a:moveTo>
                  <a:pt x="0" y="17995"/>
                </a:moveTo>
                <a:lnTo>
                  <a:pt x="0" y="17995"/>
                </a:lnTo>
                <a:arcTo wR="0" hR="0" stAng="0" swAng="0"/>
                <a:lnTo>
                  <a:pt x="0" y="17995"/>
                </a:lnTo>
                <a:arcTo wR="10800" hR="17995" stAng="-10800000" swAng="21550000"/>
                <a:close/>
              </a:path>
            </a:pathLst>
          </a:custGeom>
          <a:solidFill>
            <a:srgbClr val="D3A4BE"/>
          </a:solidFill>
          <a:ln w="9360">
            <a:solidFill>
              <a:srgbClr val="D3A4BE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Application>LibreOffice/26.2.1.2$Windows_X86_64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/>
  <dcterms:modified xsi:type="dcterms:W3CDTF">2026-09-22T20:23:10Z</dcterms:modified>
  <cp:revision>990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